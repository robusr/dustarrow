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84" r:id="rId4"/>
    <p:sldId id="263" r:id="rId5"/>
    <p:sldId id="268" r:id="rId6"/>
    <p:sldId id="285" r:id="rId7"/>
    <p:sldId id="261" r:id="rId8"/>
    <p:sldId id="286" r:id="rId9"/>
    <p:sldId id="291" r:id="rId10"/>
    <p:sldId id="292" r:id="rId11"/>
    <p:sldId id="287" r:id="rId12"/>
    <p:sldId id="270" r:id="rId13"/>
    <p:sldId id="274" r:id="rId14"/>
    <p:sldId id="294" r:id="rId15"/>
    <p:sldId id="272" r:id="rId16"/>
    <p:sldId id="289" r:id="rId17"/>
    <p:sldId id="304" r:id="rId18"/>
    <p:sldId id="305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微软雅黑" panose="020B0503020204020204" pitchFamily="34" charset="-122"/>
      <p:regular r:id="rId26"/>
      <p:bold r:id="rId27"/>
    </p:embeddedFont>
  </p:embeddedFontLst>
  <p:custDataLst>
    <p:tags r:id="rId28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 userDrawn="1">
          <p15:clr>
            <a:srgbClr val="A4A3A4"/>
          </p15:clr>
        </p15:guide>
        <p15:guide id="2" pos="2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367"/>
    <a:srgbClr val="E6E6E6"/>
    <a:srgbClr val="1D4865"/>
    <a:srgbClr val="1D4971"/>
    <a:srgbClr val="51B3CD"/>
    <a:srgbClr val="83C2DB"/>
    <a:srgbClr val="2980B4"/>
    <a:srgbClr val="4287C6"/>
    <a:srgbClr val="278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8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36" y="416"/>
      </p:cViewPr>
      <p:guideLst>
        <p:guide orient="horz" pos="1588"/>
        <p:guide pos="28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0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3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856090" y="1669270"/>
            <a:ext cx="6326090" cy="6838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沙尘利</a:t>
            </a:r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箭</a:t>
            </a:r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</a:p>
        </p:txBody>
      </p:sp>
      <p:sp>
        <p:nvSpPr>
          <p:cNvPr id="3075" name="文本框 3074"/>
          <p:cNvSpPr txBox="1"/>
          <p:nvPr/>
        </p:nvSpPr>
        <p:spPr>
          <a:xfrm>
            <a:off x="2881490" y="3180129"/>
            <a:ext cx="3461808" cy="25273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eaLnBrk="0" hangingPunct="0"/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宁夏回族自治区固原市第一中学          郭沫晗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28442" y="2703832"/>
            <a:ext cx="4570907" cy="30540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气象探测火箭的模块化遥测系统</a:t>
            </a:r>
          </a:p>
        </p:txBody>
      </p:sp>
      <p:sp>
        <p:nvSpPr>
          <p:cNvPr id="2" name="矩形 1"/>
          <p:cNvSpPr/>
          <p:nvPr/>
        </p:nvSpPr>
        <p:spPr>
          <a:xfrm>
            <a:off x="2865615" y="2285849"/>
            <a:ext cx="585546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Dust Arrow Modular telemetry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75" grpId="0" bldLvl="0" animBg="1"/>
      <p:bldP spid="12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645032" y="681828"/>
            <a:ext cx="2489318" cy="3915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研究背景与意义</a:t>
            </a:r>
          </a:p>
        </p:txBody>
      </p:sp>
      <p:sp>
        <p:nvSpPr>
          <p:cNvPr id="25" name="椭圆 24"/>
          <p:cNvSpPr/>
          <p:nvPr/>
        </p:nvSpPr>
        <p:spPr>
          <a:xfrm>
            <a:off x="5169272" y="662014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文本框 17"/>
          <p:cNvSpPr txBox="1"/>
          <p:nvPr/>
        </p:nvSpPr>
        <p:spPr>
          <a:xfrm>
            <a:off x="5127511" y="695474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866491" y="2012712"/>
            <a:ext cx="2147298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400" b="1" spc="-225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 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24547" y="2701966"/>
            <a:ext cx="211315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79" name="文本框 10"/>
          <p:cNvSpPr txBox="1"/>
          <p:nvPr/>
        </p:nvSpPr>
        <p:spPr>
          <a:xfrm>
            <a:off x="5645032" y="1399372"/>
            <a:ext cx="2489318" cy="3915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国内外研究现状</a:t>
            </a:r>
          </a:p>
        </p:txBody>
      </p:sp>
      <p:sp>
        <p:nvSpPr>
          <p:cNvPr id="81" name="椭圆 80"/>
          <p:cNvSpPr/>
          <p:nvPr/>
        </p:nvSpPr>
        <p:spPr>
          <a:xfrm>
            <a:off x="5169272" y="1379558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2" name="文本框 17"/>
          <p:cNvSpPr txBox="1"/>
          <p:nvPr/>
        </p:nvSpPr>
        <p:spPr>
          <a:xfrm>
            <a:off x="5127511" y="1413018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83" name="文本框 10"/>
          <p:cNvSpPr txBox="1"/>
          <p:nvPr/>
        </p:nvSpPr>
        <p:spPr>
          <a:xfrm>
            <a:off x="5645032" y="2116916"/>
            <a:ext cx="2489318" cy="3915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研究内容及目录</a:t>
            </a:r>
          </a:p>
        </p:txBody>
      </p:sp>
      <p:sp>
        <p:nvSpPr>
          <p:cNvPr id="85" name="椭圆 84"/>
          <p:cNvSpPr/>
          <p:nvPr/>
        </p:nvSpPr>
        <p:spPr>
          <a:xfrm>
            <a:off x="5169272" y="2097102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6" name="文本框 17"/>
          <p:cNvSpPr txBox="1"/>
          <p:nvPr/>
        </p:nvSpPr>
        <p:spPr>
          <a:xfrm>
            <a:off x="5127511" y="2130562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87" name="文本框 10"/>
          <p:cNvSpPr txBox="1"/>
          <p:nvPr/>
        </p:nvSpPr>
        <p:spPr>
          <a:xfrm>
            <a:off x="5645032" y="3425707"/>
            <a:ext cx="2489318" cy="39055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改进方向</a:t>
            </a:r>
          </a:p>
        </p:txBody>
      </p:sp>
      <p:sp>
        <p:nvSpPr>
          <p:cNvPr id="89" name="椭圆 88"/>
          <p:cNvSpPr/>
          <p:nvPr/>
        </p:nvSpPr>
        <p:spPr>
          <a:xfrm>
            <a:off x="5169272" y="3424246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0" name="文本框 17"/>
          <p:cNvSpPr txBox="1"/>
          <p:nvPr/>
        </p:nvSpPr>
        <p:spPr>
          <a:xfrm>
            <a:off x="5127511" y="3457706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4" name="燕尾形 3"/>
          <p:cNvSpPr/>
          <p:nvPr/>
        </p:nvSpPr>
        <p:spPr>
          <a:xfrm>
            <a:off x="4284324" y="2183489"/>
            <a:ext cx="256853" cy="448435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10"/>
          <p:cNvSpPr txBox="1"/>
          <p:nvPr/>
        </p:nvSpPr>
        <p:spPr>
          <a:xfrm>
            <a:off x="5645032" y="4161604"/>
            <a:ext cx="2489318" cy="39055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发展前景</a:t>
            </a:r>
          </a:p>
        </p:txBody>
      </p:sp>
      <p:sp>
        <p:nvSpPr>
          <p:cNvPr id="24" name="椭圆 23"/>
          <p:cNvSpPr/>
          <p:nvPr/>
        </p:nvSpPr>
        <p:spPr>
          <a:xfrm>
            <a:off x="5169272" y="4141790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17"/>
          <p:cNvSpPr txBox="1"/>
          <p:nvPr/>
        </p:nvSpPr>
        <p:spPr>
          <a:xfrm>
            <a:off x="5127511" y="4175250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</a:p>
        </p:txBody>
      </p:sp>
      <p:sp>
        <p:nvSpPr>
          <p:cNvPr id="28" name="文本框 10"/>
          <p:cNvSpPr txBox="1"/>
          <p:nvPr/>
        </p:nvSpPr>
        <p:spPr>
          <a:xfrm>
            <a:off x="5645032" y="2750754"/>
            <a:ext cx="2489318" cy="39055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创新要点综述</a:t>
            </a:r>
          </a:p>
        </p:txBody>
      </p:sp>
      <p:sp>
        <p:nvSpPr>
          <p:cNvPr id="30" name="椭圆 29"/>
          <p:cNvSpPr/>
          <p:nvPr/>
        </p:nvSpPr>
        <p:spPr>
          <a:xfrm>
            <a:off x="5169272" y="2730940"/>
            <a:ext cx="393570" cy="39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文本框 17"/>
          <p:cNvSpPr txBox="1"/>
          <p:nvPr/>
        </p:nvSpPr>
        <p:spPr>
          <a:xfrm>
            <a:off x="5127511" y="2764400"/>
            <a:ext cx="478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3" grpId="0"/>
      <p:bldP spid="3" grpId="0"/>
      <p:bldP spid="79" grpId="0" animBg="1"/>
      <p:bldP spid="83" grpId="0" animBg="1"/>
      <p:bldP spid="87" grpId="0" bldLvl="0" animBg="1"/>
      <p:bldP spid="4" grpId="0" animBg="1"/>
      <p:bldP spid="22" grpId="0" bldLvl="0" animBg="1"/>
      <p:bldP spid="2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1737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研究背景与意义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1573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3"/>
          <p:cNvSpPr>
            <a:spLocks noChangeArrowheads="1"/>
          </p:cNvSpPr>
          <p:nvPr/>
        </p:nvSpPr>
        <p:spPr bwMode="auto">
          <a:xfrm>
            <a:off x="4972759" y="2227492"/>
            <a:ext cx="4171241" cy="24028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bevel/>
          </a:ln>
        </p:spPr>
        <p:txBody>
          <a:bodyPr lIns="68580" tIns="34290" rIns="68580" bIns="34290"/>
          <a:lstStyle/>
          <a:p>
            <a:pPr eaLnBrk="1" hangingPunct="1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23"/>
          <p:cNvSpPr>
            <a:spLocks noChangeArrowheads="1"/>
          </p:cNvSpPr>
          <p:nvPr/>
        </p:nvSpPr>
        <p:spPr bwMode="auto">
          <a:xfrm>
            <a:off x="1" y="2227492"/>
            <a:ext cx="4972758" cy="2402844"/>
          </a:xfrm>
          <a:prstGeom prst="rect">
            <a:avLst/>
          </a:prstGeom>
          <a:blipFill dpi="0" rotWithShape="1"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9525">
            <a:noFill/>
            <a:bevel/>
          </a:ln>
        </p:spPr>
        <p:txBody>
          <a:bodyPr lIns="68580" tIns="34290" rIns="68580" bIns="34290"/>
          <a:lstStyle/>
          <a:p>
            <a:pPr eaLnBrk="1" hangingPunct="1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8049" y="255686"/>
            <a:ext cx="226171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107" name="文本框 11"/>
          <p:cNvSpPr txBox="1"/>
          <p:nvPr/>
        </p:nvSpPr>
        <p:spPr>
          <a:xfrm>
            <a:off x="393645" y="878000"/>
            <a:ext cx="8356711" cy="108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200000"/>
              </a:lnSpc>
            </a:pP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逢初春，频繁恶劣的沙尘天气席卷西北大地。年初，各省市的猛烈沙尘暴登上了新闻热搜，粉尘携带细菌，造成空气质量下降，人居环境健康每况愈下，导致了呼吸系统疾病，严重影响了日常的工作和生活，沙尘天气的危害不言而喻。有效治理以精确探测为基础，地面的低空沙尘监测装置往往不能得到全面立体的沙尘暴数据</a:t>
            </a:r>
            <a:r>
              <a:rPr 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607759" y="2829739"/>
            <a:ext cx="2901241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目前的气象火箭不能针对沙尘天气进行有效的实时探测，对各类恶劣天气的研究也存在局限性。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9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49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 autoUpdateAnimBg="0"/>
      <p:bldP spid="18" grpId="0" bldLvl="0" animBg="1" autoUpdateAnimBg="0"/>
      <p:bldP spid="16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泪滴形 14"/>
          <p:cNvSpPr/>
          <p:nvPr/>
        </p:nvSpPr>
        <p:spPr>
          <a:xfrm>
            <a:off x="563393" y="818756"/>
            <a:ext cx="602227" cy="602227"/>
          </a:xfrm>
          <a:prstGeom prst="teardrop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32098" y="937809"/>
            <a:ext cx="264816" cy="364121"/>
            <a:chOff x="6766243" y="2767965"/>
            <a:chExt cx="139700" cy="192088"/>
          </a:xfrm>
          <a:solidFill>
            <a:schemeClr val="bg1"/>
          </a:solidFill>
        </p:grpSpPr>
        <p:sp>
          <p:nvSpPr>
            <p:cNvPr id="31762" name="Rectangle 27"/>
            <p:cNvSpPr/>
            <p:nvPr/>
          </p:nvSpPr>
          <p:spPr>
            <a:xfrm>
              <a:off x="6766243" y="2807653"/>
              <a:ext cx="22225" cy="15240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/>
            <a:lstStyle/>
            <a:p>
              <a:pPr lvl="0" eaLnBrk="1" hangingPunct="1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763" name="Rectangle 28"/>
            <p:cNvSpPr/>
            <p:nvPr/>
          </p:nvSpPr>
          <p:spPr>
            <a:xfrm>
              <a:off x="6807518" y="2783840"/>
              <a:ext cx="20637" cy="17621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/>
            <a:lstStyle/>
            <a:p>
              <a:pPr lvl="0" eaLnBrk="1" hangingPunct="1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764" name="Rectangle 29"/>
            <p:cNvSpPr/>
            <p:nvPr/>
          </p:nvSpPr>
          <p:spPr>
            <a:xfrm>
              <a:off x="6844030" y="2767965"/>
              <a:ext cx="22225" cy="19208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/>
            <a:lstStyle/>
            <a:p>
              <a:pPr lvl="0" eaLnBrk="1" hangingPunct="1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765" name="Rectangle 30"/>
            <p:cNvSpPr/>
            <p:nvPr/>
          </p:nvSpPr>
          <p:spPr>
            <a:xfrm>
              <a:off x="6882130" y="2866390"/>
              <a:ext cx="23813" cy="936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/>
            <a:lstStyle/>
            <a:p>
              <a:pPr lvl="0" eaLnBrk="1" hangingPunct="1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40" name="泪滴形 39"/>
          <p:cNvSpPr/>
          <p:nvPr/>
        </p:nvSpPr>
        <p:spPr>
          <a:xfrm>
            <a:off x="563393" y="3019962"/>
            <a:ext cx="602227" cy="602227"/>
          </a:xfrm>
          <a:prstGeom prst="teardrop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61" name="Freeform 36"/>
          <p:cNvSpPr/>
          <p:nvPr/>
        </p:nvSpPr>
        <p:spPr>
          <a:xfrm>
            <a:off x="673107" y="3152919"/>
            <a:ext cx="382799" cy="33631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34" h="117">
                <a:moveTo>
                  <a:pt x="134" y="20"/>
                </a:moveTo>
                <a:cubicBezTo>
                  <a:pt x="134" y="9"/>
                  <a:pt x="125" y="0"/>
                  <a:pt x="114" y="0"/>
                </a:cubicBezTo>
                <a:cubicBezTo>
                  <a:pt x="103" y="0"/>
                  <a:pt x="94" y="9"/>
                  <a:pt x="94" y="20"/>
                </a:cubicBezTo>
                <a:cubicBezTo>
                  <a:pt x="94" y="26"/>
                  <a:pt x="96" y="31"/>
                  <a:pt x="100" y="34"/>
                </a:cubicBezTo>
                <a:cubicBezTo>
                  <a:pt x="77" y="89"/>
                  <a:pt x="77" y="89"/>
                  <a:pt x="77" y="89"/>
                </a:cubicBezTo>
                <a:cubicBezTo>
                  <a:pt x="58" y="47"/>
                  <a:pt x="58" y="47"/>
                  <a:pt x="58" y="47"/>
                </a:cubicBezTo>
                <a:cubicBezTo>
                  <a:pt x="42" y="45"/>
                  <a:pt x="42" y="45"/>
                  <a:pt x="42" y="45"/>
                </a:cubicBezTo>
                <a:cubicBezTo>
                  <a:pt x="27" y="63"/>
                  <a:pt x="27" y="63"/>
                  <a:pt x="27" y="63"/>
                </a:cubicBezTo>
                <a:cubicBezTo>
                  <a:pt x="25" y="62"/>
                  <a:pt x="23" y="62"/>
                  <a:pt x="21" y="62"/>
                </a:cubicBezTo>
                <a:cubicBezTo>
                  <a:pt x="9" y="62"/>
                  <a:pt x="0" y="71"/>
                  <a:pt x="0" y="82"/>
                </a:cubicBezTo>
                <a:cubicBezTo>
                  <a:pt x="0" y="93"/>
                  <a:pt x="9" y="102"/>
                  <a:pt x="21" y="102"/>
                </a:cubicBezTo>
                <a:cubicBezTo>
                  <a:pt x="32" y="102"/>
                  <a:pt x="41" y="93"/>
                  <a:pt x="41" y="82"/>
                </a:cubicBezTo>
                <a:cubicBezTo>
                  <a:pt x="41" y="81"/>
                  <a:pt x="41" y="79"/>
                  <a:pt x="40" y="78"/>
                </a:cubicBezTo>
                <a:cubicBezTo>
                  <a:pt x="47" y="70"/>
                  <a:pt x="47" y="70"/>
                  <a:pt x="47" y="70"/>
                </a:cubicBezTo>
                <a:cubicBezTo>
                  <a:pt x="69" y="117"/>
                  <a:pt x="69" y="117"/>
                  <a:pt x="69" y="117"/>
                </a:cubicBezTo>
                <a:cubicBezTo>
                  <a:pt x="86" y="117"/>
                  <a:pt x="86" y="117"/>
                  <a:pt x="86" y="117"/>
                </a:cubicBezTo>
                <a:cubicBezTo>
                  <a:pt x="119" y="39"/>
                  <a:pt x="119" y="39"/>
                  <a:pt x="119" y="39"/>
                </a:cubicBezTo>
                <a:cubicBezTo>
                  <a:pt x="128" y="37"/>
                  <a:pt x="134" y="29"/>
                  <a:pt x="134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74478" y="6193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98049" y="255686"/>
            <a:ext cx="226171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研究意义</a:t>
            </a:r>
          </a:p>
        </p:txBody>
      </p:sp>
      <p:sp>
        <p:nvSpPr>
          <p:cNvPr id="5" name="矩形 4"/>
          <p:cNvSpPr/>
          <p:nvPr/>
        </p:nvSpPr>
        <p:spPr>
          <a:xfrm>
            <a:off x="1571370" y="780593"/>
            <a:ext cx="6798622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提供沙尘暴的实时监测和预警</a:t>
            </a: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：沙尘暴对人类社会和生态环境造成了严重的影响，包括空气质量下降、能见度降低、交通事故增加、农作物受损等。通过沙尘暴气象探测火箭，可以实时监测沙尘暴的形成和发展过程，提前预警，帮助人们采取相应的措施，减轻沙尘暴对社会和生态环境的影响。</a:t>
            </a:r>
            <a:r>
              <a:rPr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研究沙尘暴的形成机制和演化规律</a:t>
            </a: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：沙尘暴的形成和演化过程复杂，涉及到大气环流、土壤条件、地形地貌等多种因素。通过沙尘暴气象探测火箭，可以获取大气中的温度、湿度、风速、风向等数据，进一步研究沙尘暴的形成机制和演化规律，为沙尘暴的预测和防治提供科学依据。</a:t>
            </a:r>
          </a:p>
        </p:txBody>
      </p:sp>
      <p:sp>
        <p:nvSpPr>
          <p:cNvPr id="6" name="矩形 5"/>
          <p:cNvSpPr/>
          <p:nvPr/>
        </p:nvSpPr>
        <p:spPr>
          <a:xfrm>
            <a:off x="1570674" y="2854134"/>
            <a:ext cx="687067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改善天气预报和气候模式的准确性</a:t>
            </a: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：沙尘暴对天气预报和气候模式的准确性有很大的影响。沙尘暴气象探测火箭可以提供大气中的参数数据，如温度、湿度、风速、风向等，这些数据可以用于改进天气预报模型和气候模式，提高预报的准确性和可靠性。</a:t>
            </a:r>
            <a:r>
              <a:rPr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探索沙尘暴对气候变化的响应和反馈机制</a:t>
            </a: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：沙尘暴与气候变化之间存在着复杂的相互作用关系。沙尘暴气象探测火箭可以获取沙尘暴的相关数据，通过分析这些数据，可以研究沙尘暴对气候变化的响应和反馈机制，进一步了解全球气候变化的影响和趋势。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412566" y="780656"/>
            <a:ext cx="7109134" cy="1822844"/>
          </a:xfrm>
          <a:prstGeom prst="roundRect">
            <a:avLst>
              <a:gd name="adj" fmla="val 342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/>
          <p:cNvSpPr/>
          <p:nvPr/>
        </p:nvSpPr>
        <p:spPr>
          <a:xfrm>
            <a:off x="1400977" y="2854522"/>
            <a:ext cx="7109134" cy="1822844"/>
          </a:xfrm>
          <a:prstGeom prst="roundRect">
            <a:avLst>
              <a:gd name="adj" fmla="val 342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椭圆 10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国内外研究现状</a:t>
            </a:r>
          </a:p>
        </p:txBody>
      </p:sp>
      <p:sp>
        <p:nvSpPr>
          <p:cNvPr id="10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/>
      <p:bldP spid="10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15"/>
          <p:cNvSpPr txBox="1"/>
          <p:nvPr/>
        </p:nvSpPr>
        <p:spPr>
          <a:xfrm>
            <a:off x="774487" y="282863"/>
            <a:ext cx="2261711" cy="3454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中国科学院子午工程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4700" y="758190"/>
            <a:ext cx="3296920" cy="3627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1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地球表面20公里以外的空间，尤其是在太阳和地球之间经常发生磁暴、太阳风等空间灾害性事件。这些事件就像地球上的狂风暴雨一样，不但会造成地球上的通讯中断等问题，还会危及航行其间的航天器和航天员的安全。为了了解空间环境灾害性天气变化规律、我国上空环境的区域性特征，更好地保证卫星的安全，“</a:t>
            </a:r>
            <a:r>
              <a:rPr lang="zh-CN" altLang="en-US" sz="11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东半球空间环境地基综合监测子午链</a:t>
            </a:r>
            <a:r>
              <a:rPr lang="zh-CN" altLang="en-US" sz="11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（简称子午工程）的建设列入了国家重大科学工程建设计划。子午工程是一个大型空间环境地基综合监测系统，将为我国建立独立自主的空间环境监测和保障体系奠定重要基础，对于发展我国空间科学、增强综合国力、提高国家安全保障能力具有重要意义，并可为国际空间科学合作做出重大贡献。</a:t>
            </a:r>
          </a:p>
        </p:txBody>
      </p:sp>
      <p:pic>
        <p:nvPicPr>
          <p:cNvPr id="3" name="图片 2" descr="子午工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0" y="835660"/>
            <a:ext cx="4783455" cy="3472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椭圆 99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研究内容与目录</a:t>
            </a:r>
          </a:p>
        </p:txBody>
      </p:sp>
      <p:sp>
        <p:nvSpPr>
          <p:cNvPr id="103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/>
      <p:bldP spid="1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85"/>
          <p:cNvSpPr txBox="1"/>
          <p:nvPr/>
        </p:nvSpPr>
        <p:spPr>
          <a:xfrm>
            <a:off x="4689785" y="1064437"/>
            <a:ext cx="2694623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da-DK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由中国空间站学科交叉研究的实验柜得到设计灵感，从针对沙尘暴探测的气象火箭入手，</a:t>
            </a:r>
            <a:r>
              <a:rPr lang="zh-CN" altLang="da-D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改进运行机制</a:t>
            </a:r>
            <a:r>
              <a:rPr lang="zh-CN" altLang="da-DK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da-D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完善模块化结构，拓展气象灾害探测方向</a:t>
            </a:r>
          </a:p>
        </p:txBody>
      </p:sp>
      <p:sp>
        <p:nvSpPr>
          <p:cNvPr id="8" name="TextBox 1956"/>
          <p:cNvSpPr/>
          <p:nvPr/>
        </p:nvSpPr>
        <p:spPr>
          <a:xfrm>
            <a:off x="4673593" y="781544"/>
            <a:ext cx="1441458" cy="28469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</a:pP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绪论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89785" y="3547685"/>
            <a:ext cx="269462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以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Qt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作为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UI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框架开发图形化交互界面，</a:t>
            </a:r>
            <a:r>
              <a:rPr lang="zh-CN" altLang="da-DK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设计简单稳定的串口数据传输协议，通过正则表达式解码，并由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Nunpy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Matlabplot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库分析数据，实现简洁高效的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数据可视化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1956"/>
          <p:cNvSpPr/>
          <p:nvPr/>
        </p:nvSpPr>
        <p:spPr>
          <a:xfrm>
            <a:off x="4675543" y="3264792"/>
            <a:ext cx="3677882" cy="2832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</a:pPr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地面端遥测软件的开发与调试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>
            <a:stCxn id="56" idx="0"/>
          </p:cNvCxnSpPr>
          <p:nvPr/>
        </p:nvCxnSpPr>
        <p:spPr>
          <a:xfrm>
            <a:off x="4312404" y="881485"/>
            <a:ext cx="0" cy="3349214"/>
          </a:xfrm>
          <a:prstGeom prst="line">
            <a:avLst/>
          </a:prstGeom>
          <a:ln w="9525">
            <a:solidFill>
              <a:srgbClr val="1B436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1812"/>
          <p:cNvSpPr/>
          <p:nvPr/>
        </p:nvSpPr>
        <p:spPr>
          <a:xfrm>
            <a:off x="3964898" y="3380171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Freeform 5"/>
          <p:cNvSpPr/>
          <p:nvPr/>
        </p:nvSpPr>
        <p:spPr bwMode="auto">
          <a:xfrm>
            <a:off x="4144736" y="3565225"/>
            <a:ext cx="274313" cy="193334"/>
          </a:xfrm>
          <a:custGeom>
            <a:avLst/>
            <a:gdLst>
              <a:gd name="T0" fmla="*/ 298 w 298"/>
              <a:gd name="T1" fmla="*/ 81 h 211"/>
              <a:gd name="T2" fmla="*/ 292 w 298"/>
              <a:gd name="T3" fmla="*/ 0 h 211"/>
              <a:gd name="T4" fmla="*/ 210 w 298"/>
              <a:gd name="T5" fmla="*/ 30 h 211"/>
              <a:gd name="T6" fmla="*/ 242 w 298"/>
              <a:gd name="T7" fmla="*/ 48 h 211"/>
              <a:gd name="T8" fmla="*/ 100 w 298"/>
              <a:gd name="T9" fmla="*/ 155 h 211"/>
              <a:gd name="T10" fmla="*/ 1 w 298"/>
              <a:gd name="T11" fmla="*/ 169 h 211"/>
              <a:gd name="T12" fmla="*/ 1 w 298"/>
              <a:gd name="T13" fmla="*/ 188 h 211"/>
              <a:gd name="T14" fmla="*/ 1 w 298"/>
              <a:gd name="T15" fmla="*/ 207 h 211"/>
              <a:gd name="T16" fmla="*/ 1 w 298"/>
              <a:gd name="T17" fmla="*/ 207 h 211"/>
              <a:gd name="T18" fmla="*/ 112 w 298"/>
              <a:gd name="T19" fmla="*/ 191 h 211"/>
              <a:gd name="T20" fmla="*/ 208 w 298"/>
              <a:gd name="T21" fmla="*/ 139 h 211"/>
              <a:gd name="T22" fmla="*/ 275 w 298"/>
              <a:gd name="T23" fmla="*/ 68 h 211"/>
              <a:gd name="T24" fmla="*/ 298 w 298"/>
              <a:gd name="T25" fmla="*/ 8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8" h="211">
                <a:moveTo>
                  <a:pt x="298" y="81"/>
                </a:moveTo>
                <a:cubicBezTo>
                  <a:pt x="292" y="0"/>
                  <a:pt x="292" y="0"/>
                  <a:pt x="292" y="0"/>
                </a:cubicBezTo>
                <a:cubicBezTo>
                  <a:pt x="210" y="30"/>
                  <a:pt x="210" y="30"/>
                  <a:pt x="210" y="30"/>
                </a:cubicBezTo>
                <a:cubicBezTo>
                  <a:pt x="242" y="48"/>
                  <a:pt x="242" y="48"/>
                  <a:pt x="242" y="48"/>
                </a:cubicBezTo>
                <a:cubicBezTo>
                  <a:pt x="208" y="98"/>
                  <a:pt x="160" y="133"/>
                  <a:pt x="100" y="155"/>
                </a:cubicBezTo>
                <a:cubicBezTo>
                  <a:pt x="46" y="174"/>
                  <a:pt x="1" y="169"/>
                  <a:pt x="1" y="169"/>
                </a:cubicBezTo>
                <a:cubicBezTo>
                  <a:pt x="1" y="188"/>
                  <a:pt x="1" y="188"/>
                  <a:pt x="1" y="188"/>
                </a:cubicBezTo>
                <a:cubicBezTo>
                  <a:pt x="1" y="207"/>
                  <a:pt x="1" y="207"/>
                  <a:pt x="1" y="207"/>
                </a:cubicBezTo>
                <a:cubicBezTo>
                  <a:pt x="1" y="207"/>
                  <a:pt x="0" y="207"/>
                  <a:pt x="1" y="207"/>
                </a:cubicBezTo>
                <a:cubicBezTo>
                  <a:pt x="8" y="207"/>
                  <a:pt x="55" y="211"/>
                  <a:pt x="112" y="191"/>
                </a:cubicBezTo>
                <a:cubicBezTo>
                  <a:pt x="147" y="179"/>
                  <a:pt x="180" y="161"/>
                  <a:pt x="208" y="139"/>
                </a:cubicBezTo>
                <a:cubicBezTo>
                  <a:pt x="234" y="119"/>
                  <a:pt x="256" y="95"/>
                  <a:pt x="275" y="68"/>
                </a:cubicBezTo>
                <a:lnTo>
                  <a:pt x="298" y="81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4142712" y="3785889"/>
            <a:ext cx="63770" cy="698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Freeform 7"/>
          <p:cNvSpPr/>
          <p:nvPr/>
        </p:nvSpPr>
        <p:spPr bwMode="auto">
          <a:xfrm>
            <a:off x="4217617" y="3763620"/>
            <a:ext cx="62758" cy="92112"/>
          </a:xfrm>
          <a:custGeom>
            <a:avLst/>
            <a:gdLst>
              <a:gd name="T0" fmla="*/ 62 w 62"/>
              <a:gd name="T1" fmla="*/ 0 h 91"/>
              <a:gd name="T2" fmla="*/ 1 w 62"/>
              <a:gd name="T3" fmla="*/ 0 h 91"/>
              <a:gd name="T4" fmla="*/ 0 w 62"/>
              <a:gd name="T5" fmla="*/ 91 h 91"/>
              <a:gd name="T6" fmla="*/ 62 w 62"/>
              <a:gd name="T7" fmla="*/ 91 h 91"/>
              <a:gd name="T8" fmla="*/ 62 w 62"/>
              <a:gd name="T9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91">
                <a:moveTo>
                  <a:pt x="62" y="0"/>
                </a:moveTo>
                <a:lnTo>
                  <a:pt x="1" y="0"/>
                </a:lnTo>
                <a:lnTo>
                  <a:pt x="0" y="91"/>
                </a:lnTo>
                <a:lnTo>
                  <a:pt x="62" y="91"/>
                </a:lnTo>
                <a:lnTo>
                  <a:pt x="62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Rectangle 8"/>
          <p:cNvSpPr>
            <a:spLocks noChangeArrowheads="1"/>
          </p:cNvSpPr>
          <p:nvPr/>
        </p:nvSpPr>
        <p:spPr bwMode="auto">
          <a:xfrm>
            <a:off x="4292521" y="3732241"/>
            <a:ext cx="62758" cy="12349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Rectangle 9"/>
          <p:cNvSpPr>
            <a:spLocks noChangeArrowheads="1"/>
          </p:cNvSpPr>
          <p:nvPr/>
        </p:nvSpPr>
        <p:spPr bwMode="auto">
          <a:xfrm>
            <a:off x="4367426" y="3682642"/>
            <a:ext cx="62758" cy="17309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4" name="Freeform 10"/>
          <p:cNvSpPr/>
          <p:nvPr/>
        </p:nvSpPr>
        <p:spPr bwMode="auto">
          <a:xfrm>
            <a:off x="4142712" y="3565225"/>
            <a:ext cx="328973" cy="330996"/>
          </a:xfrm>
          <a:custGeom>
            <a:avLst/>
            <a:gdLst>
              <a:gd name="T0" fmla="*/ 343 w 358"/>
              <a:gd name="T1" fmla="*/ 0 h 361"/>
              <a:gd name="T2" fmla="*/ 343 w 358"/>
              <a:gd name="T3" fmla="*/ 0 h 361"/>
              <a:gd name="T4" fmla="*/ 343 w 358"/>
              <a:gd name="T5" fmla="*/ 0 h 361"/>
              <a:gd name="T6" fmla="*/ 334 w 358"/>
              <a:gd name="T7" fmla="*/ 4 h 361"/>
              <a:gd name="T8" fmla="*/ 329 w 358"/>
              <a:gd name="T9" fmla="*/ 14 h 361"/>
              <a:gd name="T10" fmla="*/ 339 w 358"/>
              <a:gd name="T11" fmla="*/ 28 h 361"/>
              <a:gd name="T12" fmla="*/ 339 w 358"/>
              <a:gd name="T13" fmla="*/ 343 h 361"/>
              <a:gd name="T14" fmla="*/ 29 w 358"/>
              <a:gd name="T15" fmla="*/ 343 h 361"/>
              <a:gd name="T16" fmla="*/ 15 w 358"/>
              <a:gd name="T17" fmla="*/ 332 h 361"/>
              <a:gd name="T18" fmla="*/ 0 w 358"/>
              <a:gd name="T19" fmla="*/ 347 h 361"/>
              <a:gd name="T20" fmla="*/ 0 w 358"/>
              <a:gd name="T21" fmla="*/ 348 h 361"/>
              <a:gd name="T22" fmla="*/ 15 w 358"/>
              <a:gd name="T23" fmla="*/ 361 h 361"/>
              <a:gd name="T24" fmla="*/ 29 w 358"/>
              <a:gd name="T25" fmla="*/ 351 h 361"/>
              <a:gd name="T26" fmla="*/ 347 w 358"/>
              <a:gd name="T27" fmla="*/ 351 h 361"/>
              <a:gd name="T28" fmla="*/ 347 w 358"/>
              <a:gd name="T29" fmla="*/ 28 h 361"/>
              <a:gd name="T30" fmla="*/ 358 w 358"/>
              <a:gd name="T31" fmla="*/ 14 h 361"/>
              <a:gd name="T32" fmla="*/ 343 w 358"/>
              <a:gd name="T33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58" h="361">
                <a:moveTo>
                  <a:pt x="343" y="0"/>
                </a:moveTo>
                <a:cubicBezTo>
                  <a:pt x="343" y="0"/>
                  <a:pt x="343" y="0"/>
                  <a:pt x="343" y="0"/>
                </a:cubicBezTo>
                <a:cubicBezTo>
                  <a:pt x="343" y="0"/>
                  <a:pt x="343" y="0"/>
                  <a:pt x="343" y="0"/>
                </a:cubicBezTo>
                <a:cubicBezTo>
                  <a:pt x="339" y="0"/>
                  <a:pt x="336" y="1"/>
                  <a:pt x="334" y="4"/>
                </a:cubicBezTo>
                <a:cubicBezTo>
                  <a:pt x="331" y="6"/>
                  <a:pt x="329" y="10"/>
                  <a:pt x="329" y="14"/>
                </a:cubicBezTo>
                <a:cubicBezTo>
                  <a:pt x="329" y="21"/>
                  <a:pt x="333" y="26"/>
                  <a:pt x="339" y="28"/>
                </a:cubicBezTo>
                <a:cubicBezTo>
                  <a:pt x="339" y="343"/>
                  <a:pt x="339" y="343"/>
                  <a:pt x="339" y="343"/>
                </a:cubicBezTo>
                <a:cubicBezTo>
                  <a:pt x="29" y="343"/>
                  <a:pt x="29" y="343"/>
                  <a:pt x="29" y="343"/>
                </a:cubicBezTo>
                <a:cubicBezTo>
                  <a:pt x="27" y="337"/>
                  <a:pt x="21" y="332"/>
                  <a:pt x="15" y="332"/>
                </a:cubicBezTo>
                <a:cubicBezTo>
                  <a:pt x="7" y="332"/>
                  <a:pt x="0" y="339"/>
                  <a:pt x="0" y="347"/>
                </a:cubicBezTo>
                <a:cubicBezTo>
                  <a:pt x="0" y="347"/>
                  <a:pt x="0" y="348"/>
                  <a:pt x="0" y="348"/>
                </a:cubicBezTo>
                <a:cubicBezTo>
                  <a:pt x="1" y="355"/>
                  <a:pt x="7" y="361"/>
                  <a:pt x="15" y="361"/>
                </a:cubicBezTo>
                <a:cubicBezTo>
                  <a:pt x="21" y="361"/>
                  <a:pt x="27" y="357"/>
                  <a:pt x="29" y="351"/>
                </a:cubicBezTo>
                <a:cubicBezTo>
                  <a:pt x="347" y="351"/>
                  <a:pt x="347" y="351"/>
                  <a:pt x="347" y="351"/>
                </a:cubicBezTo>
                <a:cubicBezTo>
                  <a:pt x="347" y="28"/>
                  <a:pt x="347" y="28"/>
                  <a:pt x="347" y="28"/>
                </a:cubicBezTo>
                <a:cubicBezTo>
                  <a:pt x="353" y="27"/>
                  <a:pt x="358" y="21"/>
                  <a:pt x="358" y="14"/>
                </a:cubicBezTo>
                <a:cubicBezTo>
                  <a:pt x="358" y="6"/>
                  <a:pt x="351" y="0"/>
                  <a:pt x="343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Freeform 1812"/>
          <p:cNvSpPr/>
          <p:nvPr/>
        </p:nvSpPr>
        <p:spPr>
          <a:xfrm>
            <a:off x="3964898" y="768428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Oval 14"/>
          <p:cNvSpPr>
            <a:spLocks noChangeArrowheads="1"/>
          </p:cNvSpPr>
          <p:nvPr/>
        </p:nvSpPr>
        <p:spPr bwMode="auto">
          <a:xfrm>
            <a:off x="4246911" y="967007"/>
            <a:ext cx="125432" cy="1231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Freeform 15"/>
          <p:cNvSpPr/>
          <p:nvPr/>
        </p:nvSpPr>
        <p:spPr bwMode="auto">
          <a:xfrm>
            <a:off x="4196738" y="1098139"/>
            <a:ext cx="226918" cy="158499"/>
          </a:xfrm>
          <a:custGeom>
            <a:avLst/>
            <a:gdLst>
              <a:gd name="T0" fmla="*/ 219 w 219"/>
              <a:gd name="T1" fmla="*/ 93 h 154"/>
              <a:gd name="T2" fmla="*/ 156 w 219"/>
              <a:gd name="T3" fmla="*/ 0 h 154"/>
              <a:gd name="T4" fmla="*/ 110 w 219"/>
              <a:gd name="T5" fmla="*/ 125 h 154"/>
              <a:gd name="T6" fmla="*/ 64 w 219"/>
              <a:gd name="T7" fmla="*/ 0 h 154"/>
              <a:gd name="T8" fmla="*/ 0 w 219"/>
              <a:gd name="T9" fmla="*/ 93 h 154"/>
              <a:gd name="T10" fmla="*/ 0 w 219"/>
              <a:gd name="T11" fmla="*/ 96 h 154"/>
              <a:gd name="T12" fmla="*/ 0 w 219"/>
              <a:gd name="T13" fmla="*/ 97 h 154"/>
              <a:gd name="T14" fmla="*/ 110 w 219"/>
              <a:gd name="T15" fmla="*/ 154 h 154"/>
              <a:gd name="T16" fmla="*/ 219 w 219"/>
              <a:gd name="T17" fmla="*/ 97 h 154"/>
              <a:gd name="T18" fmla="*/ 219 w 219"/>
              <a:gd name="T19" fmla="*/ 96 h 154"/>
              <a:gd name="T20" fmla="*/ 219 w 219"/>
              <a:gd name="T21" fmla="*/ 93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9" h="154">
                <a:moveTo>
                  <a:pt x="219" y="93"/>
                </a:moveTo>
                <a:cubicBezTo>
                  <a:pt x="217" y="52"/>
                  <a:pt x="191" y="16"/>
                  <a:pt x="156" y="0"/>
                </a:cubicBezTo>
                <a:cubicBezTo>
                  <a:pt x="110" y="125"/>
                  <a:pt x="110" y="125"/>
                  <a:pt x="110" y="125"/>
                </a:cubicBezTo>
                <a:cubicBezTo>
                  <a:pt x="64" y="0"/>
                  <a:pt x="64" y="0"/>
                  <a:pt x="64" y="0"/>
                </a:cubicBezTo>
                <a:cubicBezTo>
                  <a:pt x="28" y="16"/>
                  <a:pt x="2" y="52"/>
                  <a:pt x="0" y="93"/>
                </a:cubicBezTo>
                <a:cubicBezTo>
                  <a:pt x="0" y="94"/>
                  <a:pt x="0" y="95"/>
                  <a:pt x="0" y="96"/>
                </a:cubicBezTo>
                <a:cubicBezTo>
                  <a:pt x="0" y="96"/>
                  <a:pt x="0" y="97"/>
                  <a:pt x="0" y="97"/>
                </a:cubicBezTo>
                <a:cubicBezTo>
                  <a:pt x="1" y="122"/>
                  <a:pt x="50" y="154"/>
                  <a:pt x="110" y="154"/>
                </a:cubicBezTo>
                <a:cubicBezTo>
                  <a:pt x="169" y="154"/>
                  <a:pt x="218" y="122"/>
                  <a:pt x="219" y="97"/>
                </a:cubicBezTo>
                <a:cubicBezTo>
                  <a:pt x="219" y="97"/>
                  <a:pt x="219" y="96"/>
                  <a:pt x="219" y="96"/>
                </a:cubicBezTo>
                <a:cubicBezTo>
                  <a:pt x="219" y="95"/>
                  <a:pt x="219" y="94"/>
                  <a:pt x="219" y="93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Freeform 16"/>
          <p:cNvSpPr/>
          <p:nvPr/>
        </p:nvSpPr>
        <p:spPr bwMode="auto">
          <a:xfrm>
            <a:off x="4299364" y="1094718"/>
            <a:ext cx="22806" cy="22806"/>
          </a:xfrm>
          <a:custGeom>
            <a:avLst/>
            <a:gdLst>
              <a:gd name="T0" fmla="*/ 10 w 20"/>
              <a:gd name="T1" fmla="*/ 0 h 20"/>
              <a:gd name="T2" fmla="*/ 20 w 20"/>
              <a:gd name="T3" fmla="*/ 10 h 20"/>
              <a:gd name="T4" fmla="*/ 10 w 20"/>
              <a:gd name="T5" fmla="*/ 20 h 20"/>
              <a:gd name="T6" fmla="*/ 0 w 20"/>
              <a:gd name="T7" fmla="*/ 10 h 20"/>
              <a:gd name="T8" fmla="*/ 10 w 20"/>
              <a:gd name="T9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" h="20">
                <a:moveTo>
                  <a:pt x="10" y="0"/>
                </a:moveTo>
                <a:lnTo>
                  <a:pt x="20" y="10"/>
                </a:lnTo>
                <a:lnTo>
                  <a:pt x="10" y="20"/>
                </a:lnTo>
                <a:lnTo>
                  <a:pt x="0" y="10"/>
                </a:lnTo>
                <a:lnTo>
                  <a:pt x="1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Freeform 17"/>
          <p:cNvSpPr/>
          <p:nvPr/>
        </p:nvSpPr>
        <p:spPr bwMode="auto">
          <a:xfrm>
            <a:off x="4293663" y="1117524"/>
            <a:ext cx="33069" cy="84381"/>
          </a:xfrm>
          <a:custGeom>
            <a:avLst/>
            <a:gdLst>
              <a:gd name="T0" fmla="*/ 21 w 29"/>
              <a:gd name="T1" fmla="*/ 6 h 74"/>
              <a:gd name="T2" fmla="*/ 15 w 29"/>
              <a:gd name="T3" fmla="*/ 0 h 74"/>
              <a:gd name="T4" fmla="*/ 7 w 29"/>
              <a:gd name="T5" fmla="*/ 6 h 74"/>
              <a:gd name="T6" fmla="*/ 0 w 29"/>
              <a:gd name="T7" fmla="*/ 37 h 74"/>
              <a:gd name="T8" fmla="*/ 15 w 29"/>
              <a:gd name="T9" fmla="*/ 74 h 74"/>
              <a:gd name="T10" fmla="*/ 29 w 29"/>
              <a:gd name="T11" fmla="*/ 37 h 74"/>
              <a:gd name="T12" fmla="*/ 21 w 29"/>
              <a:gd name="T13" fmla="*/ 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" h="74">
                <a:moveTo>
                  <a:pt x="21" y="6"/>
                </a:moveTo>
                <a:lnTo>
                  <a:pt x="15" y="0"/>
                </a:lnTo>
                <a:lnTo>
                  <a:pt x="7" y="6"/>
                </a:lnTo>
                <a:lnTo>
                  <a:pt x="0" y="37"/>
                </a:lnTo>
                <a:lnTo>
                  <a:pt x="15" y="74"/>
                </a:lnTo>
                <a:lnTo>
                  <a:pt x="29" y="37"/>
                </a:lnTo>
                <a:lnTo>
                  <a:pt x="21" y="6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Freeform 18"/>
          <p:cNvSpPr/>
          <p:nvPr/>
        </p:nvSpPr>
        <p:spPr bwMode="auto">
          <a:xfrm>
            <a:off x="4394008" y="1000075"/>
            <a:ext cx="91223" cy="90082"/>
          </a:xfrm>
          <a:custGeom>
            <a:avLst/>
            <a:gdLst>
              <a:gd name="T0" fmla="*/ 88 w 88"/>
              <a:gd name="T1" fmla="*/ 44 h 87"/>
              <a:gd name="T2" fmla="*/ 44 w 88"/>
              <a:gd name="T3" fmla="*/ 0 h 87"/>
              <a:gd name="T4" fmla="*/ 0 w 88"/>
              <a:gd name="T5" fmla="*/ 44 h 87"/>
              <a:gd name="T6" fmla="*/ 44 w 88"/>
              <a:gd name="T7" fmla="*/ 87 h 87"/>
              <a:gd name="T8" fmla="*/ 88 w 88"/>
              <a:gd name="T9" fmla="*/ 44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7">
                <a:moveTo>
                  <a:pt x="88" y="44"/>
                </a:moveTo>
                <a:cubicBezTo>
                  <a:pt x="88" y="19"/>
                  <a:pt x="68" y="0"/>
                  <a:pt x="44" y="0"/>
                </a:cubicBezTo>
                <a:cubicBezTo>
                  <a:pt x="20" y="0"/>
                  <a:pt x="1" y="19"/>
                  <a:pt x="0" y="44"/>
                </a:cubicBezTo>
                <a:cubicBezTo>
                  <a:pt x="0" y="68"/>
                  <a:pt x="20" y="87"/>
                  <a:pt x="44" y="87"/>
                </a:cubicBezTo>
                <a:cubicBezTo>
                  <a:pt x="68" y="87"/>
                  <a:pt x="88" y="68"/>
                  <a:pt x="88" y="4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Freeform 19"/>
          <p:cNvSpPr/>
          <p:nvPr/>
        </p:nvSpPr>
        <p:spPr bwMode="auto">
          <a:xfrm>
            <a:off x="4431638" y="1092438"/>
            <a:ext cx="17105" cy="17105"/>
          </a:xfrm>
          <a:custGeom>
            <a:avLst/>
            <a:gdLst>
              <a:gd name="T0" fmla="*/ 7 w 15"/>
              <a:gd name="T1" fmla="*/ 0 h 15"/>
              <a:gd name="T2" fmla="*/ 15 w 15"/>
              <a:gd name="T3" fmla="*/ 7 h 15"/>
              <a:gd name="T4" fmla="*/ 7 w 15"/>
              <a:gd name="T5" fmla="*/ 15 h 15"/>
              <a:gd name="T6" fmla="*/ 0 w 15"/>
              <a:gd name="T7" fmla="*/ 7 h 15"/>
              <a:gd name="T8" fmla="*/ 7 w 15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15">
                <a:moveTo>
                  <a:pt x="7" y="0"/>
                </a:moveTo>
                <a:lnTo>
                  <a:pt x="15" y="7"/>
                </a:lnTo>
                <a:lnTo>
                  <a:pt x="7" y="15"/>
                </a:lnTo>
                <a:lnTo>
                  <a:pt x="0" y="7"/>
                </a:lnTo>
                <a:lnTo>
                  <a:pt x="7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Freeform 20"/>
          <p:cNvSpPr/>
          <p:nvPr/>
        </p:nvSpPr>
        <p:spPr bwMode="auto">
          <a:xfrm>
            <a:off x="4428217" y="1109542"/>
            <a:ext cx="23946" cy="61575"/>
          </a:xfrm>
          <a:custGeom>
            <a:avLst/>
            <a:gdLst>
              <a:gd name="T0" fmla="*/ 16 w 21"/>
              <a:gd name="T1" fmla="*/ 4 h 54"/>
              <a:gd name="T2" fmla="*/ 10 w 21"/>
              <a:gd name="T3" fmla="*/ 0 h 54"/>
              <a:gd name="T4" fmla="*/ 6 w 21"/>
              <a:gd name="T5" fmla="*/ 4 h 54"/>
              <a:gd name="T6" fmla="*/ 0 w 21"/>
              <a:gd name="T7" fmla="*/ 27 h 54"/>
              <a:gd name="T8" fmla="*/ 10 w 21"/>
              <a:gd name="T9" fmla="*/ 54 h 54"/>
              <a:gd name="T10" fmla="*/ 21 w 21"/>
              <a:gd name="T11" fmla="*/ 27 h 54"/>
              <a:gd name="T12" fmla="*/ 16 w 21"/>
              <a:gd name="T13" fmla="*/ 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54">
                <a:moveTo>
                  <a:pt x="16" y="4"/>
                </a:moveTo>
                <a:lnTo>
                  <a:pt x="10" y="0"/>
                </a:lnTo>
                <a:lnTo>
                  <a:pt x="6" y="4"/>
                </a:lnTo>
                <a:lnTo>
                  <a:pt x="0" y="27"/>
                </a:lnTo>
                <a:lnTo>
                  <a:pt x="10" y="54"/>
                </a:lnTo>
                <a:lnTo>
                  <a:pt x="21" y="27"/>
                </a:lnTo>
                <a:lnTo>
                  <a:pt x="16" y="4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Oval 21"/>
          <p:cNvSpPr>
            <a:spLocks noChangeArrowheads="1"/>
          </p:cNvSpPr>
          <p:nvPr/>
        </p:nvSpPr>
        <p:spPr bwMode="auto">
          <a:xfrm>
            <a:off x="4134022" y="1000075"/>
            <a:ext cx="91223" cy="9008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Freeform 22"/>
          <p:cNvSpPr/>
          <p:nvPr/>
        </p:nvSpPr>
        <p:spPr bwMode="auto">
          <a:xfrm>
            <a:off x="4097533" y="1094718"/>
            <a:ext cx="136835" cy="116308"/>
          </a:xfrm>
          <a:custGeom>
            <a:avLst/>
            <a:gdLst>
              <a:gd name="T0" fmla="*/ 91 w 133"/>
              <a:gd name="T1" fmla="*/ 100 h 112"/>
              <a:gd name="T2" fmla="*/ 91 w 133"/>
              <a:gd name="T3" fmla="*/ 100 h 112"/>
              <a:gd name="T4" fmla="*/ 91 w 133"/>
              <a:gd name="T5" fmla="*/ 99 h 112"/>
              <a:gd name="T6" fmla="*/ 91 w 133"/>
              <a:gd name="T7" fmla="*/ 96 h 112"/>
              <a:gd name="T8" fmla="*/ 133 w 133"/>
              <a:gd name="T9" fmla="*/ 13 h 112"/>
              <a:gd name="T10" fmla="*/ 114 w 133"/>
              <a:gd name="T11" fmla="*/ 0 h 112"/>
              <a:gd name="T12" fmla="*/ 80 w 133"/>
              <a:gd name="T13" fmla="*/ 92 h 112"/>
              <a:gd name="T14" fmla="*/ 47 w 133"/>
              <a:gd name="T15" fmla="*/ 0 h 112"/>
              <a:gd name="T16" fmla="*/ 0 w 133"/>
              <a:gd name="T17" fmla="*/ 68 h 112"/>
              <a:gd name="T18" fmla="*/ 0 w 133"/>
              <a:gd name="T19" fmla="*/ 70 h 112"/>
              <a:gd name="T20" fmla="*/ 0 w 133"/>
              <a:gd name="T21" fmla="*/ 71 h 112"/>
              <a:gd name="T22" fmla="*/ 80 w 133"/>
              <a:gd name="T23" fmla="*/ 112 h 112"/>
              <a:gd name="T24" fmla="*/ 94 w 133"/>
              <a:gd name="T25" fmla="*/ 112 h 112"/>
              <a:gd name="T26" fmla="*/ 91 w 133"/>
              <a:gd name="T27" fmla="*/ 10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33" h="112">
                <a:moveTo>
                  <a:pt x="91" y="100"/>
                </a:moveTo>
                <a:cubicBezTo>
                  <a:pt x="91" y="100"/>
                  <a:pt x="91" y="100"/>
                  <a:pt x="91" y="100"/>
                </a:cubicBezTo>
                <a:cubicBezTo>
                  <a:pt x="91" y="100"/>
                  <a:pt x="91" y="100"/>
                  <a:pt x="91" y="99"/>
                </a:cubicBezTo>
                <a:cubicBezTo>
                  <a:pt x="91" y="98"/>
                  <a:pt x="91" y="97"/>
                  <a:pt x="91" y="96"/>
                </a:cubicBezTo>
                <a:cubicBezTo>
                  <a:pt x="93" y="63"/>
                  <a:pt x="108" y="33"/>
                  <a:pt x="133" y="13"/>
                </a:cubicBezTo>
                <a:cubicBezTo>
                  <a:pt x="127" y="8"/>
                  <a:pt x="121" y="4"/>
                  <a:pt x="114" y="0"/>
                </a:cubicBezTo>
                <a:cubicBezTo>
                  <a:pt x="80" y="92"/>
                  <a:pt x="80" y="92"/>
                  <a:pt x="80" y="92"/>
                </a:cubicBezTo>
                <a:cubicBezTo>
                  <a:pt x="47" y="0"/>
                  <a:pt x="47" y="0"/>
                  <a:pt x="47" y="0"/>
                </a:cubicBezTo>
                <a:cubicBezTo>
                  <a:pt x="21" y="12"/>
                  <a:pt x="2" y="38"/>
                  <a:pt x="0" y="68"/>
                </a:cubicBezTo>
                <a:cubicBezTo>
                  <a:pt x="0" y="69"/>
                  <a:pt x="0" y="70"/>
                  <a:pt x="0" y="70"/>
                </a:cubicBezTo>
                <a:cubicBezTo>
                  <a:pt x="0" y="71"/>
                  <a:pt x="0" y="71"/>
                  <a:pt x="0" y="71"/>
                </a:cubicBezTo>
                <a:cubicBezTo>
                  <a:pt x="1" y="90"/>
                  <a:pt x="37" y="112"/>
                  <a:pt x="80" y="112"/>
                </a:cubicBezTo>
                <a:cubicBezTo>
                  <a:pt x="85" y="112"/>
                  <a:pt x="89" y="112"/>
                  <a:pt x="94" y="112"/>
                </a:cubicBezTo>
                <a:cubicBezTo>
                  <a:pt x="92" y="108"/>
                  <a:pt x="91" y="104"/>
                  <a:pt x="91" y="10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Freeform 23"/>
          <p:cNvSpPr/>
          <p:nvPr/>
        </p:nvSpPr>
        <p:spPr bwMode="auto">
          <a:xfrm>
            <a:off x="4171652" y="1092438"/>
            <a:ext cx="17105" cy="17105"/>
          </a:xfrm>
          <a:custGeom>
            <a:avLst/>
            <a:gdLst>
              <a:gd name="T0" fmla="*/ 7 w 15"/>
              <a:gd name="T1" fmla="*/ 0 h 15"/>
              <a:gd name="T2" fmla="*/ 15 w 15"/>
              <a:gd name="T3" fmla="*/ 7 h 15"/>
              <a:gd name="T4" fmla="*/ 7 w 15"/>
              <a:gd name="T5" fmla="*/ 15 h 15"/>
              <a:gd name="T6" fmla="*/ 0 w 15"/>
              <a:gd name="T7" fmla="*/ 7 h 15"/>
              <a:gd name="T8" fmla="*/ 7 w 15"/>
              <a:gd name="T9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15">
                <a:moveTo>
                  <a:pt x="7" y="0"/>
                </a:moveTo>
                <a:lnTo>
                  <a:pt x="15" y="7"/>
                </a:lnTo>
                <a:lnTo>
                  <a:pt x="7" y="15"/>
                </a:lnTo>
                <a:lnTo>
                  <a:pt x="0" y="7"/>
                </a:lnTo>
                <a:lnTo>
                  <a:pt x="7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Freeform 24"/>
          <p:cNvSpPr/>
          <p:nvPr/>
        </p:nvSpPr>
        <p:spPr bwMode="auto">
          <a:xfrm>
            <a:off x="4168231" y="1109542"/>
            <a:ext cx="23946" cy="61575"/>
          </a:xfrm>
          <a:custGeom>
            <a:avLst/>
            <a:gdLst>
              <a:gd name="T0" fmla="*/ 16 w 21"/>
              <a:gd name="T1" fmla="*/ 4 h 54"/>
              <a:gd name="T2" fmla="*/ 10 w 21"/>
              <a:gd name="T3" fmla="*/ 0 h 54"/>
              <a:gd name="T4" fmla="*/ 5 w 21"/>
              <a:gd name="T5" fmla="*/ 4 h 54"/>
              <a:gd name="T6" fmla="*/ 0 w 21"/>
              <a:gd name="T7" fmla="*/ 27 h 54"/>
              <a:gd name="T8" fmla="*/ 10 w 21"/>
              <a:gd name="T9" fmla="*/ 54 h 54"/>
              <a:gd name="T10" fmla="*/ 21 w 21"/>
              <a:gd name="T11" fmla="*/ 27 h 54"/>
              <a:gd name="T12" fmla="*/ 16 w 21"/>
              <a:gd name="T13" fmla="*/ 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54">
                <a:moveTo>
                  <a:pt x="16" y="4"/>
                </a:moveTo>
                <a:lnTo>
                  <a:pt x="10" y="0"/>
                </a:lnTo>
                <a:lnTo>
                  <a:pt x="5" y="4"/>
                </a:lnTo>
                <a:lnTo>
                  <a:pt x="0" y="27"/>
                </a:lnTo>
                <a:lnTo>
                  <a:pt x="10" y="54"/>
                </a:lnTo>
                <a:lnTo>
                  <a:pt x="21" y="27"/>
                </a:lnTo>
                <a:lnTo>
                  <a:pt x="16" y="4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Freeform 25"/>
          <p:cNvSpPr/>
          <p:nvPr/>
        </p:nvSpPr>
        <p:spPr bwMode="auto">
          <a:xfrm>
            <a:off x="4384886" y="1094718"/>
            <a:ext cx="137975" cy="116308"/>
          </a:xfrm>
          <a:custGeom>
            <a:avLst/>
            <a:gdLst>
              <a:gd name="T0" fmla="*/ 133 w 133"/>
              <a:gd name="T1" fmla="*/ 69 h 113"/>
              <a:gd name="T2" fmla="*/ 87 w 133"/>
              <a:gd name="T3" fmla="*/ 0 h 113"/>
              <a:gd name="T4" fmla="*/ 53 w 133"/>
              <a:gd name="T5" fmla="*/ 92 h 113"/>
              <a:gd name="T6" fmla="*/ 20 w 133"/>
              <a:gd name="T7" fmla="*/ 0 h 113"/>
              <a:gd name="T8" fmla="*/ 0 w 133"/>
              <a:gd name="T9" fmla="*/ 13 h 113"/>
              <a:gd name="T10" fmla="*/ 22 w 133"/>
              <a:gd name="T11" fmla="*/ 37 h 113"/>
              <a:gd name="T12" fmla="*/ 43 w 133"/>
              <a:gd name="T13" fmla="*/ 96 h 113"/>
              <a:gd name="T14" fmla="*/ 43 w 133"/>
              <a:gd name="T15" fmla="*/ 99 h 113"/>
              <a:gd name="T16" fmla="*/ 43 w 133"/>
              <a:gd name="T17" fmla="*/ 100 h 113"/>
              <a:gd name="T18" fmla="*/ 43 w 133"/>
              <a:gd name="T19" fmla="*/ 100 h 113"/>
              <a:gd name="T20" fmla="*/ 40 w 133"/>
              <a:gd name="T21" fmla="*/ 112 h 113"/>
              <a:gd name="T22" fmla="*/ 53 w 133"/>
              <a:gd name="T23" fmla="*/ 113 h 113"/>
              <a:gd name="T24" fmla="*/ 133 w 133"/>
              <a:gd name="T25" fmla="*/ 71 h 113"/>
              <a:gd name="T26" fmla="*/ 133 w 133"/>
              <a:gd name="T27" fmla="*/ 70 h 113"/>
              <a:gd name="T28" fmla="*/ 133 w 133"/>
              <a:gd name="T29" fmla="*/ 69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3" h="113">
                <a:moveTo>
                  <a:pt x="133" y="69"/>
                </a:moveTo>
                <a:cubicBezTo>
                  <a:pt x="131" y="38"/>
                  <a:pt x="113" y="12"/>
                  <a:pt x="87" y="0"/>
                </a:cubicBezTo>
                <a:cubicBezTo>
                  <a:pt x="53" y="92"/>
                  <a:pt x="53" y="92"/>
                  <a:pt x="53" y="92"/>
                </a:cubicBezTo>
                <a:cubicBezTo>
                  <a:pt x="20" y="0"/>
                  <a:pt x="20" y="0"/>
                  <a:pt x="20" y="0"/>
                </a:cubicBezTo>
                <a:cubicBezTo>
                  <a:pt x="13" y="4"/>
                  <a:pt x="6" y="8"/>
                  <a:pt x="0" y="13"/>
                </a:cubicBezTo>
                <a:cubicBezTo>
                  <a:pt x="9" y="20"/>
                  <a:pt x="16" y="28"/>
                  <a:pt x="22" y="37"/>
                </a:cubicBezTo>
                <a:cubicBezTo>
                  <a:pt x="34" y="55"/>
                  <a:pt x="41" y="75"/>
                  <a:pt x="43" y="96"/>
                </a:cubicBezTo>
                <a:cubicBezTo>
                  <a:pt x="43" y="97"/>
                  <a:pt x="43" y="98"/>
                  <a:pt x="43" y="99"/>
                </a:cubicBezTo>
                <a:cubicBezTo>
                  <a:pt x="43" y="100"/>
                  <a:pt x="43" y="100"/>
                  <a:pt x="43" y="100"/>
                </a:cubicBezTo>
                <a:cubicBezTo>
                  <a:pt x="43" y="100"/>
                  <a:pt x="43" y="100"/>
                  <a:pt x="43" y="100"/>
                </a:cubicBezTo>
                <a:cubicBezTo>
                  <a:pt x="43" y="104"/>
                  <a:pt x="41" y="108"/>
                  <a:pt x="40" y="112"/>
                </a:cubicBezTo>
                <a:cubicBezTo>
                  <a:pt x="44" y="112"/>
                  <a:pt x="49" y="113"/>
                  <a:pt x="53" y="113"/>
                </a:cubicBezTo>
                <a:cubicBezTo>
                  <a:pt x="97" y="112"/>
                  <a:pt x="132" y="90"/>
                  <a:pt x="133" y="71"/>
                </a:cubicBezTo>
                <a:cubicBezTo>
                  <a:pt x="133" y="71"/>
                  <a:pt x="133" y="71"/>
                  <a:pt x="133" y="70"/>
                </a:cubicBezTo>
                <a:cubicBezTo>
                  <a:pt x="133" y="70"/>
                  <a:pt x="133" y="69"/>
                  <a:pt x="133" y="69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3" name="Freeform 1812"/>
          <p:cNvSpPr/>
          <p:nvPr/>
        </p:nvSpPr>
        <p:spPr>
          <a:xfrm>
            <a:off x="3964899" y="2108909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Freeform 26"/>
          <p:cNvSpPr>
            <a:spLocks noEditPoints="1"/>
          </p:cNvSpPr>
          <p:nvPr/>
        </p:nvSpPr>
        <p:spPr bwMode="auto">
          <a:xfrm>
            <a:off x="4119756" y="2377200"/>
            <a:ext cx="253892" cy="253891"/>
          </a:xfrm>
          <a:custGeom>
            <a:avLst/>
            <a:gdLst>
              <a:gd name="T0" fmla="*/ 258 w 258"/>
              <a:gd name="T1" fmla="*/ 156 h 259"/>
              <a:gd name="T2" fmla="*/ 258 w 258"/>
              <a:gd name="T3" fmla="*/ 104 h 259"/>
              <a:gd name="T4" fmla="*/ 239 w 258"/>
              <a:gd name="T5" fmla="*/ 94 h 259"/>
              <a:gd name="T6" fmla="*/ 232 w 258"/>
              <a:gd name="T7" fmla="*/ 78 h 259"/>
              <a:gd name="T8" fmla="*/ 239 w 258"/>
              <a:gd name="T9" fmla="*/ 57 h 259"/>
              <a:gd name="T10" fmla="*/ 202 w 258"/>
              <a:gd name="T11" fmla="*/ 20 h 259"/>
              <a:gd name="T12" fmla="*/ 180 w 258"/>
              <a:gd name="T13" fmla="*/ 27 h 259"/>
              <a:gd name="T14" fmla="*/ 166 w 258"/>
              <a:gd name="T15" fmla="*/ 21 h 259"/>
              <a:gd name="T16" fmla="*/ 155 w 258"/>
              <a:gd name="T17" fmla="*/ 0 h 259"/>
              <a:gd name="T18" fmla="*/ 103 w 258"/>
              <a:gd name="T19" fmla="*/ 0 h 259"/>
              <a:gd name="T20" fmla="*/ 92 w 258"/>
              <a:gd name="T21" fmla="*/ 21 h 259"/>
              <a:gd name="T22" fmla="*/ 79 w 258"/>
              <a:gd name="T23" fmla="*/ 26 h 259"/>
              <a:gd name="T24" fmla="*/ 56 w 258"/>
              <a:gd name="T25" fmla="*/ 19 h 259"/>
              <a:gd name="T26" fmla="*/ 19 w 258"/>
              <a:gd name="T27" fmla="*/ 56 h 259"/>
              <a:gd name="T28" fmla="*/ 26 w 258"/>
              <a:gd name="T29" fmla="*/ 79 h 259"/>
              <a:gd name="T30" fmla="*/ 21 w 258"/>
              <a:gd name="T31" fmla="*/ 92 h 259"/>
              <a:gd name="T32" fmla="*/ 0 w 258"/>
              <a:gd name="T33" fmla="*/ 103 h 259"/>
              <a:gd name="T34" fmla="*/ 0 w 258"/>
              <a:gd name="T35" fmla="*/ 155 h 259"/>
              <a:gd name="T36" fmla="*/ 20 w 258"/>
              <a:gd name="T37" fmla="*/ 166 h 259"/>
              <a:gd name="T38" fmla="*/ 26 w 258"/>
              <a:gd name="T39" fmla="*/ 180 h 259"/>
              <a:gd name="T40" fmla="*/ 19 w 258"/>
              <a:gd name="T41" fmla="*/ 202 h 259"/>
              <a:gd name="T42" fmla="*/ 56 w 258"/>
              <a:gd name="T43" fmla="*/ 239 h 259"/>
              <a:gd name="T44" fmla="*/ 76 w 258"/>
              <a:gd name="T45" fmla="*/ 233 h 259"/>
              <a:gd name="T46" fmla="*/ 92 w 258"/>
              <a:gd name="T47" fmla="*/ 240 h 259"/>
              <a:gd name="T48" fmla="*/ 102 w 258"/>
              <a:gd name="T49" fmla="*/ 259 h 259"/>
              <a:gd name="T50" fmla="*/ 155 w 258"/>
              <a:gd name="T51" fmla="*/ 259 h 259"/>
              <a:gd name="T52" fmla="*/ 164 w 258"/>
              <a:gd name="T53" fmla="*/ 240 h 259"/>
              <a:gd name="T54" fmla="*/ 181 w 258"/>
              <a:gd name="T55" fmla="*/ 233 h 259"/>
              <a:gd name="T56" fmla="*/ 201 w 258"/>
              <a:gd name="T57" fmla="*/ 240 h 259"/>
              <a:gd name="T58" fmla="*/ 238 w 258"/>
              <a:gd name="T59" fmla="*/ 202 h 259"/>
              <a:gd name="T60" fmla="*/ 232 w 258"/>
              <a:gd name="T61" fmla="*/ 183 h 259"/>
              <a:gd name="T62" fmla="*/ 239 w 258"/>
              <a:gd name="T63" fmla="*/ 166 h 259"/>
              <a:gd name="T64" fmla="*/ 258 w 258"/>
              <a:gd name="T65" fmla="*/ 156 h 259"/>
              <a:gd name="T66" fmla="*/ 187 w 258"/>
              <a:gd name="T67" fmla="*/ 130 h 259"/>
              <a:gd name="T68" fmla="*/ 130 w 258"/>
              <a:gd name="T69" fmla="*/ 188 h 259"/>
              <a:gd name="T70" fmla="*/ 71 w 258"/>
              <a:gd name="T71" fmla="*/ 130 h 259"/>
              <a:gd name="T72" fmla="*/ 130 w 258"/>
              <a:gd name="T73" fmla="*/ 72 h 259"/>
              <a:gd name="T74" fmla="*/ 187 w 258"/>
              <a:gd name="T75" fmla="*/ 13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8" h="259">
                <a:moveTo>
                  <a:pt x="258" y="156"/>
                </a:moveTo>
                <a:cubicBezTo>
                  <a:pt x="258" y="104"/>
                  <a:pt x="258" y="104"/>
                  <a:pt x="258" y="104"/>
                </a:cubicBezTo>
                <a:cubicBezTo>
                  <a:pt x="239" y="94"/>
                  <a:pt x="239" y="94"/>
                  <a:pt x="239" y="94"/>
                </a:cubicBezTo>
                <a:cubicBezTo>
                  <a:pt x="237" y="88"/>
                  <a:pt x="235" y="83"/>
                  <a:pt x="232" y="78"/>
                </a:cubicBezTo>
                <a:cubicBezTo>
                  <a:pt x="239" y="57"/>
                  <a:pt x="239" y="57"/>
                  <a:pt x="239" y="57"/>
                </a:cubicBezTo>
                <a:cubicBezTo>
                  <a:pt x="202" y="20"/>
                  <a:pt x="202" y="20"/>
                  <a:pt x="202" y="20"/>
                </a:cubicBezTo>
                <a:cubicBezTo>
                  <a:pt x="180" y="27"/>
                  <a:pt x="180" y="27"/>
                  <a:pt x="180" y="27"/>
                </a:cubicBezTo>
                <a:cubicBezTo>
                  <a:pt x="175" y="25"/>
                  <a:pt x="171" y="23"/>
                  <a:pt x="166" y="21"/>
                </a:cubicBezTo>
                <a:cubicBezTo>
                  <a:pt x="155" y="0"/>
                  <a:pt x="155" y="0"/>
                  <a:pt x="155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92" y="21"/>
                  <a:pt x="92" y="21"/>
                  <a:pt x="92" y="21"/>
                </a:cubicBezTo>
                <a:cubicBezTo>
                  <a:pt x="88" y="23"/>
                  <a:pt x="83" y="25"/>
                  <a:pt x="79" y="26"/>
                </a:cubicBezTo>
                <a:cubicBezTo>
                  <a:pt x="56" y="19"/>
                  <a:pt x="56" y="19"/>
                  <a:pt x="56" y="19"/>
                </a:cubicBezTo>
                <a:cubicBezTo>
                  <a:pt x="19" y="56"/>
                  <a:pt x="19" y="56"/>
                  <a:pt x="19" y="56"/>
                </a:cubicBezTo>
                <a:cubicBezTo>
                  <a:pt x="26" y="79"/>
                  <a:pt x="26" y="79"/>
                  <a:pt x="26" y="79"/>
                </a:cubicBezTo>
                <a:cubicBezTo>
                  <a:pt x="24" y="83"/>
                  <a:pt x="22" y="87"/>
                  <a:pt x="21" y="92"/>
                </a:cubicBezTo>
                <a:cubicBezTo>
                  <a:pt x="0" y="103"/>
                  <a:pt x="0" y="103"/>
                  <a:pt x="0" y="103"/>
                </a:cubicBezTo>
                <a:cubicBezTo>
                  <a:pt x="0" y="155"/>
                  <a:pt x="0" y="155"/>
                  <a:pt x="0" y="155"/>
                </a:cubicBezTo>
                <a:cubicBezTo>
                  <a:pt x="20" y="166"/>
                  <a:pt x="20" y="166"/>
                  <a:pt x="20" y="166"/>
                </a:cubicBezTo>
                <a:cubicBezTo>
                  <a:pt x="21" y="171"/>
                  <a:pt x="23" y="176"/>
                  <a:pt x="26" y="180"/>
                </a:cubicBezTo>
                <a:cubicBezTo>
                  <a:pt x="19" y="202"/>
                  <a:pt x="19" y="202"/>
                  <a:pt x="19" y="202"/>
                </a:cubicBezTo>
                <a:cubicBezTo>
                  <a:pt x="56" y="239"/>
                  <a:pt x="56" y="239"/>
                  <a:pt x="56" y="239"/>
                </a:cubicBezTo>
                <a:cubicBezTo>
                  <a:pt x="76" y="233"/>
                  <a:pt x="76" y="233"/>
                  <a:pt x="76" y="233"/>
                </a:cubicBezTo>
                <a:cubicBezTo>
                  <a:pt x="81" y="235"/>
                  <a:pt x="87" y="238"/>
                  <a:pt x="92" y="240"/>
                </a:cubicBezTo>
                <a:cubicBezTo>
                  <a:pt x="102" y="259"/>
                  <a:pt x="102" y="259"/>
                  <a:pt x="102" y="259"/>
                </a:cubicBezTo>
                <a:cubicBezTo>
                  <a:pt x="155" y="259"/>
                  <a:pt x="155" y="259"/>
                  <a:pt x="155" y="259"/>
                </a:cubicBezTo>
                <a:cubicBezTo>
                  <a:pt x="164" y="240"/>
                  <a:pt x="164" y="240"/>
                  <a:pt x="164" y="240"/>
                </a:cubicBezTo>
                <a:cubicBezTo>
                  <a:pt x="170" y="239"/>
                  <a:pt x="176" y="236"/>
                  <a:pt x="181" y="233"/>
                </a:cubicBezTo>
                <a:cubicBezTo>
                  <a:pt x="201" y="240"/>
                  <a:pt x="201" y="240"/>
                  <a:pt x="201" y="240"/>
                </a:cubicBezTo>
                <a:cubicBezTo>
                  <a:pt x="238" y="202"/>
                  <a:pt x="238" y="202"/>
                  <a:pt x="238" y="202"/>
                </a:cubicBezTo>
                <a:cubicBezTo>
                  <a:pt x="232" y="183"/>
                  <a:pt x="232" y="183"/>
                  <a:pt x="232" y="183"/>
                </a:cubicBezTo>
                <a:cubicBezTo>
                  <a:pt x="235" y="177"/>
                  <a:pt x="237" y="172"/>
                  <a:pt x="239" y="166"/>
                </a:cubicBezTo>
                <a:lnTo>
                  <a:pt x="258" y="156"/>
                </a:lnTo>
                <a:close/>
                <a:moveTo>
                  <a:pt x="187" y="130"/>
                </a:moveTo>
                <a:cubicBezTo>
                  <a:pt x="187" y="162"/>
                  <a:pt x="161" y="188"/>
                  <a:pt x="130" y="188"/>
                </a:cubicBezTo>
                <a:cubicBezTo>
                  <a:pt x="97" y="188"/>
                  <a:pt x="71" y="162"/>
                  <a:pt x="71" y="130"/>
                </a:cubicBezTo>
                <a:cubicBezTo>
                  <a:pt x="71" y="98"/>
                  <a:pt x="97" y="72"/>
                  <a:pt x="130" y="72"/>
                </a:cubicBezTo>
                <a:cubicBezTo>
                  <a:pt x="161" y="72"/>
                  <a:pt x="187" y="98"/>
                  <a:pt x="187" y="13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Freeform 27"/>
          <p:cNvSpPr>
            <a:spLocks noEditPoints="1"/>
          </p:cNvSpPr>
          <p:nvPr/>
        </p:nvSpPr>
        <p:spPr bwMode="auto">
          <a:xfrm>
            <a:off x="4287933" y="2262190"/>
            <a:ext cx="131286" cy="129116"/>
          </a:xfrm>
          <a:custGeom>
            <a:avLst/>
            <a:gdLst>
              <a:gd name="T0" fmla="*/ 133 w 133"/>
              <a:gd name="T1" fmla="*/ 80 h 132"/>
              <a:gd name="T2" fmla="*/ 133 w 133"/>
              <a:gd name="T3" fmla="*/ 53 h 132"/>
              <a:gd name="T4" fmla="*/ 123 w 133"/>
              <a:gd name="T5" fmla="*/ 48 h 132"/>
              <a:gd name="T6" fmla="*/ 120 w 133"/>
              <a:gd name="T7" fmla="*/ 40 h 132"/>
              <a:gd name="T8" fmla="*/ 123 w 133"/>
              <a:gd name="T9" fmla="*/ 29 h 132"/>
              <a:gd name="T10" fmla="*/ 104 w 133"/>
              <a:gd name="T11" fmla="*/ 9 h 132"/>
              <a:gd name="T12" fmla="*/ 93 w 133"/>
              <a:gd name="T13" fmla="*/ 13 h 132"/>
              <a:gd name="T14" fmla="*/ 86 w 133"/>
              <a:gd name="T15" fmla="*/ 10 h 132"/>
              <a:gd name="T16" fmla="*/ 80 w 133"/>
              <a:gd name="T17" fmla="*/ 0 h 132"/>
              <a:gd name="T18" fmla="*/ 53 w 133"/>
              <a:gd name="T19" fmla="*/ 0 h 132"/>
              <a:gd name="T20" fmla="*/ 48 w 133"/>
              <a:gd name="T21" fmla="*/ 10 h 132"/>
              <a:gd name="T22" fmla="*/ 41 w 133"/>
              <a:gd name="T23" fmla="*/ 13 h 132"/>
              <a:gd name="T24" fmla="*/ 29 w 133"/>
              <a:gd name="T25" fmla="*/ 9 h 132"/>
              <a:gd name="T26" fmla="*/ 10 w 133"/>
              <a:gd name="T27" fmla="*/ 28 h 132"/>
              <a:gd name="T28" fmla="*/ 14 w 133"/>
              <a:gd name="T29" fmla="*/ 40 h 132"/>
              <a:gd name="T30" fmla="*/ 11 w 133"/>
              <a:gd name="T31" fmla="*/ 47 h 132"/>
              <a:gd name="T32" fmla="*/ 0 w 133"/>
              <a:gd name="T33" fmla="*/ 52 h 132"/>
              <a:gd name="T34" fmla="*/ 0 w 133"/>
              <a:gd name="T35" fmla="*/ 79 h 132"/>
              <a:gd name="T36" fmla="*/ 11 w 133"/>
              <a:gd name="T37" fmla="*/ 85 h 132"/>
              <a:gd name="T38" fmla="*/ 13 w 133"/>
              <a:gd name="T39" fmla="*/ 92 h 132"/>
              <a:gd name="T40" fmla="*/ 10 w 133"/>
              <a:gd name="T41" fmla="*/ 103 h 132"/>
              <a:gd name="T42" fmla="*/ 29 w 133"/>
              <a:gd name="T43" fmla="*/ 122 h 132"/>
              <a:gd name="T44" fmla="*/ 39 w 133"/>
              <a:gd name="T45" fmla="*/ 119 h 132"/>
              <a:gd name="T46" fmla="*/ 48 w 133"/>
              <a:gd name="T47" fmla="*/ 122 h 132"/>
              <a:gd name="T48" fmla="*/ 53 w 133"/>
              <a:gd name="T49" fmla="*/ 132 h 132"/>
              <a:gd name="T50" fmla="*/ 80 w 133"/>
              <a:gd name="T51" fmla="*/ 132 h 132"/>
              <a:gd name="T52" fmla="*/ 85 w 133"/>
              <a:gd name="T53" fmla="*/ 123 h 132"/>
              <a:gd name="T54" fmla="*/ 94 w 133"/>
              <a:gd name="T55" fmla="*/ 119 h 132"/>
              <a:gd name="T56" fmla="*/ 104 w 133"/>
              <a:gd name="T57" fmla="*/ 122 h 132"/>
              <a:gd name="T58" fmla="*/ 123 w 133"/>
              <a:gd name="T59" fmla="*/ 103 h 132"/>
              <a:gd name="T60" fmla="*/ 120 w 133"/>
              <a:gd name="T61" fmla="*/ 93 h 132"/>
              <a:gd name="T62" fmla="*/ 123 w 133"/>
              <a:gd name="T63" fmla="*/ 85 h 132"/>
              <a:gd name="T64" fmla="*/ 133 w 133"/>
              <a:gd name="T65" fmla="*/ 80 h 132"/>
              <a:gd name="T66" fmla="*/ 97 w 133"/>
              <a:gd name="T67" fmla="*/ 66 h 132"/>
              <a:gd name="T68" fmla="*/ 67 w 133"/>
              <a:gd name="T69" fmla="*/ 96 h 132"/>
              <a:gd name="T70" fmla="*/ 37 w 133"/>
              <a:gd name="T71" fmla="*/ 66 h 132"/>
              <a:gd name="T72" fmla="*/ 67 w 133"/>
              <a:gd name="T73" fmla="*/ 37 h 132"/>
              <a:gd name="T74" fmla="*/ 97 w 133"/>
              <a:gd name="T75" fmla="*/ 66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3" h="132">
                <a:moveTo>
                  <a:pt x="133" y="80"/>
                </a:moveTo>
                <a:cubicBezTo>
                  <a:pt x="133" y="53"/>
                  <a:pt x="133" y="53"/>
                  <a:pt x="133" y="53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2" y="45"/>
                  <a:pt x="121" y="42"/>
                  <a:pt x="120" y="40"/>
                </a:cubicBezTo>
                <a:cubicBezTo>
                  <a:pt x="123" y="29"/>
                  <a:pt x="123" y="29"/>
                  <a:pt x="123" y="29"/>
                </a:cubicBezTo>
                <a:cubicBezTo>
                  <a:pt x="104" y="9"/>
                  <a:pt x="104" y="9"/>
                  <a:pt x="104" y="9"/>
                </a:cubicBezTo>
                <a:cubicBezTo>
                  <a:pt x="93" y="13"/>
                  <a:pt x="93" y="13"/>
                  <a:pt x="93" y="13"/>
                </a:cubicBezTo>
                <a:cubicBezTo>
                  <a:pt x="91" y="12"/>
                  <a:pt x="88" y="11"/>
                  <a:pt x="86" y="10"/>
                </a:cubicBezTo>
                <a:cubicBezTo>
                  <a:pt x="80" y="0"/>
                  <a:pt x="80" y="0"/>
                  <a:pt x="80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48" y="10"/>
                  <a:pt x="48" y="10"/>
                  <a:pt x="48" y="10"/>
                </a:cubicBezTo>
                <a:cubicBezTo>
                  <a:pt x="46" y="11"/>
                  <a:pt x="43" y="12"/>
                  <a:pt x="41" y="13"/>
                </a:cubicBezTo>
                <a:cubicBezTo>
                  <a:pt x="29" y="9"/>
                  <a:pt x="29" y="9"/>
                  <a:pt x="29" y="9"/>
                </a:cubicBezTo>
                <a:cubicBezTo>
                  <a:pt x="10" y="28"/>
                  <a:pt x="10" y="28"/>
                  <a:pt x="10" y="28"/>
                </a:cubicBezTo>
                <a:cubicBezTo>
                  <a:pt x="14" y="40"/>
                  <a:pt x="14" y="40"/>
                  <a:pt x="14" y="40"/>
                </a:cubicBezTo>
                <a:cubicBezTo>
                  <a:pt x="13" y="42"/>
                  <a:pt x="12" y="44"/>
                  <a:pt x="11" y="47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79"/>
                  <a:pt x="0" y="79"/>
                  <a:pt x="0" y="79"/>
                </a:cubicBezTo>
                <a:cubicBezTo>
                  <a:pt x="11" y="85"/>
                  <a:pt x="11" y="85"/>
                  <a:pt x="11" y="85"/>
                </a:cubicBezTo>
                <a:cubicBezTo>
                  <a:pt x="11" y="87"/>
                  <a:pt x="12" y="90"/>
                  <a:pt x="13" y="92"/>
                </a:cubicBezTo>
                <a:cubicBezTo>
                  <a:pt x="10" y="103"/>
                  <a:pt x="10" y="103"/>
                  <a:pt x="10" y="103"/>
                </a:cubicBezTo>
                <a:cubicBezTo>
                  <a:pt x="29" y="122"/>
                  <a:pt x="29" y="122"/>
                  <a:pt x="29" y="122"/>
                </a:cubicBezTo>
                <a:cubicBezTo>
                  <a:pt x="39" y="119"/>
                  <a:pt x="39" y="119"/>
                  <a:pt x="39" y="119"/>
                </a:cubicBezTo>
                <a:cubicBezTo>
                  <a:pt x="42" y="120"/>
                  <a:pt x="45" y="122"/>
                  <a:pt x="48" y="122"/>
                </a:cubicBezTo>
                <a:cubicBezTo>
                  <a:pt x="53" y="132"/>
                  <a:pt x="53" y="132"/>
                  <a:pt x="53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5" y="123"/>
                  <a:pt x="85" y="123"/>
                  <a:pt x="85" y="123"/>
                </a:cubicBezTo>
                <a:cubicBezTo>
                  <a:pt x="88" y="122"/>
                  <a:pt x="91" y="121"/>
                  <a:pt x="94" y="119"/>
                </a:cubicBezTo>
                <a:cubicBezTo>
                  <a:pt x="104" y="122"/>
                  <a:pt x="104" y="122"/>
                  <a:pt x="104" y="122"/>
                </a:cubicBezTo>
                <a:cubicBezTo>
                  <a:pt x="123" y="103"/>
                  <a:pt x="123" y="103"/>
                  <a:pt x="123" y="103"/>
                </a:cubicBezTo>
                <a:cubicBezTo>
                  <a:pt x="120" y="93"/>
                  <a:pt x="120" y="93"/>
                  <a:pt x="120" y="93"/>
                </a:cubicBezTo>
                <a:cubicBezTo>
                  <a:pt x="121" y="90"/>
                  <a:pt x="122" y="88"/>
                  <a:pt x="123" y="85"/>
                </a:cubicBezTo>
                <a:lnTo>
                  <a:pt x="133" y="80"/>
                </a:lnTo>
                <a:close/>
                <a:moveTo>
                  <a:pt x="97" y="66"/>
                </a:moveTo>
                <a:cubicBezTo>
                  <a:pt x="97" y="83"/>
                  <a:pt x="83" y="96"/>
                  <a:pt x="67" y="96"/>
                </a:cubicBezTo>
                <a:cubicBezTo>
                  <a:pt x="50" y="96"/>
                  <a:pt x="37" y="83"/>
                  <a:pt x="37" y="66"/>
                </a:cubicBezTo>
                <a:cubicBezTo>
                  <a:pt x="37" y="50"/>
                  <a:pt x="50" y="37"/>
                  <a:pt x="67" y="37"/>
                </a:cubicBezTo>
                <a:cubicBezTo>
                  <a:pt x="83" y="37"/>
                  <a:pt x="97" y="50"/>
                  <a:pt x="97" y="6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Freeform 28"/>
          <p:cNvSpPr>
            <a:spLocks noEditPoints="1"/>
          </p:cNvSpPr>
          <p:nvPr/>
        </p:nvSpPr>
        <p:spPr bwMode="auto">
          <a:xfrm>
            <a:off x="4372563" y="2382625"/>
            <a:ext cx="106331" cy="106330"/>
          </a:xfrm>
          <a:custGeom>
            <a:avLst/>
            <a:gdLst>
              <a:gd name="T0" fmla="*/ 108 w 108"/>
              <a:gd name="T1" fmla="*/ 65 h 108"/>
              <a:gd name="T2" fmla="*/ 108 w 108"/>
              <a:gd name="T3" fmla="*/ 43 h 108"/>
              <a:gd name="T4" fmla="*/ 100 w 108"/>
              <a:gd name="T5" fmla="*/ 39 h 108"/>
              <a:gd name="T6" fmla="*/ 97 w 108"/>
              <a:gd name="T7" fmla="*/ 33 h 108"/>
              <a:gd name="T8" fmla="*/ 100 w 108"/>
              <a:gd name="T9" fmla="*/ 24 h 108"/>
              <a:gd name="T10" fmla="*/ 84 w 108"/>
              <a:gd name="T11" fmla="*/ 8 h 108"/>
              <a:gd name="T12" fmla="*/ 75 w 108"/>
              <a:gd name="T13" fmla="*/ 11 h 108"/>
              <a:gd name="T14" fmla="*/ 70 w 108"/>
              <a:gd name="T15" fmla="*/ 9 h 108"/>
              <a:gd name="T16" fmla="*/ 65 w 108"/>
              <a:gd name="T17" fmla="*/ 0 h 108"/>
              <a:gd name="T18" fmla="*/ 43 w 108"/>
              <a:gd name="T19" fmla="*/ 0 h 108"/>
              <a:gd name="T20" fmla="*/ 39 w 108"/>
              <a:gd name="T21" fmla="*/ 9 h 108"/>
              <a:gd name="T22" fmla="*/ 33 w 108"/>
              <a:gd name="T23" fmla="*/ 11 h 108"/>
              <a:gd name="T24" fmla="*/ 24 w 108"/>
              <a:gd name="T25" fmla="*/ 8 h 108"/>
              <a:gd name="T26" fmla="*/ 8 w 108"/>
              <a:gd name="T27" fmla="*/ 24 h 108"/>
              <a:gd name="T28" fmla="*/ 11 w 108"/>
              <a:gd name="T29" fmla="*/ 33 h 108"/>
              <a:gd name="T30" fmla="*/ 9 w 108"/>
              <a:gd name="T31" fmla="*/ 39 h 108"/>
              <a:gd name="T32" fmla="*/ 0 w 108"/>
              <a:gd name="T33" fmla="*/ 43 h 108"/>
              <a:gd name="T34" fmla="*/ 0 w 108"/>
              <a:gd name="T35" fmla="*/ 65 h 108"/>
              <a:gd name="T36" fmla="*/ 8 w 108"/>
              <a:gd name="T37" fmla="*/ 69 h 108"/>
              <a:gd name="T38" fmla="*/ 11 w 108"/>
              <a:gd name="T39" fmla="*/ 76 h 108"/>
              <a:gd name="T40" fmla="*/ 8 w 108"/>
              <a:gd name="T41" fmla="*/ 84 h 108"/>
              <a:gd name="T42" fmla="*/ 23 w 108"/>
              <a:gd name="T43" fmla="*/ 100 h 108"/>
              <a:gd name="T44" fmla="*/ 32 w 108"/>
              <a:gd name="T45" fmla="*/ 97 h 108"/>
              <a:gd name="T46" fmla="*/ 39 w 108"/>
              <a:gd name="T47" fmla="*/ 100 h 108"/>
              <a:gd name="T48" fmla="*/ 43 w 108"/>
              <a:gd name="T49" fmla="*/ 108 h 108"/>
              <a:gd name="T50" fmla="*/ 65 w 108"/>
              <a:gd name="T51" fmla="*/ 108 h 108"/>
              <a:gd name="T52" fmla="*/ 69 w 108"/>
              <a:gd name="T53" fmla="*/ 100 h 108"/>
              <a:gd name="T54" fmla="*/ 76 w 108"/>
              <a:gd name="T55" fmla="*/ 98 h 108"/>
              <a:gd name="T56" fmla="*/ 84 w 108"/>
              <a:gd name="T57" fmla="*/ 100 h 108"/>
              <a:gd name="T58" fmla="*/ 100 w 108"/>
              <a:gd name="T59" fmla="*/ 85 h 108"/>
              <a:gd name="T60" fmla="*/ 97 w 108"/>
              <a:gd name="T61" fmla="*/ 76 h 108"/>
              <a:gd name="T62" fmla="*/ 100 w 108"/>
              <a:gd name="T63" fmla="*/ 69 h 108"/>
              <a:gd name="T64" fmla="*/ 108 w 108"/>
              <a:gd name="T65" fmla="*/ 65 h 108"/>
              <a:gd name="T66" fmla="*/ 78 w 108"/>
              <a:gd name="T67" fmla="*/ 54 h 108"/>
              <a:gd name="T68" fmla="*/ 54 w 108"/>
              <a:gd name="T69" fmla="*/ 79 h 108"/>
              <a:gd name="T70" fmla="*/ 30 w 108"/>
              <a:gd name="T71" fmla="*/ 54 h 108"/>
              <a:gd name="T72" fmla="*/ 54 w 108"/>
              <a:gd name="T73" fmla="*/ 30 h 108"/>
              <a:gd name="T74" fmla="*/ 78 w 108"/>
              <a:gd name="T75" fmla="*/ 54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8" h="108">
                <a:moveTo>
                  <a:pt x="108" y="65"/>
                </a:moveTo>
                <a:cubicBezTo>
                  <a:pt x="108" y="43"/>
                  <a:pt x="108" y="43"/>
                  <a:pt x="108" y="43"/>
                </a:cubicBezTo>
                <a:cubicBezTo>
                  <a:pt x="100" y="39"/>
                  <a:pt x="100" y="39"/>
                  <a:pt x="100" y="39"/>
                </a:cubicBezTo>
                <a:cubicBezTo>
                  <a:pt x="99" y="37"/>
                  <a:pt x="98" y="35"/>
                  <a:pt x="97" y="33"/>
                </a:cubicBezTo>
                <a:cubicBezTo>
                  <a:pt x="100" y="24"/>
                  <a:pt x="100" y="24"/>
                  <a:pt x="100" y="24"/>
                </a:cubicBezTo>
                <a:cubicBezTo>
                  <a:pt x="84" y="8"/>
                  <a:pt x="84" y="8"/>
                  <a:pt x="84" y="8"/>
                </a:cubicBezTo>
                <a:cubicBezTo>
                  <a:pt x="75" y="11"/>
                  <a:pt x="75" y="11"/>
                  <a:pt x="75" y="11"/>
                </a:cubicBezTo>
                <a:cubicBezTo>
                  <a:pt x="73" y="10"/>
                  <a:pt x="72" y="10"/>
                  <a:pt x="70" y="9"/>
                </a:cubicBezTo>
                <a:cubicBezTo>
                  <a:pt x="65" y="0"/>
                  <a:pt x="65" y="0"/>
                  <a:pt x="65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9" y="9"/>
                  <a:pt x="39" y="9"/>
                  <a:pt x="39" y="9"/>
                </a:cubicBezTo>
                <a:cubicBezTo>
                  <a:pt x="37" y="10"/>
                  <a:pt x="35" y="10"/>
                  <a:pt x="33" y="11"/>
                </a:cubicBezTo>
                <a:cubicBezTo>
                  <a:pt x="24" y="8"/>
                  <a:pt x="24" y="8"/>
                  <a:pt x="24" y="8"/>
                </a:cubicBezTo>
                <a:cubicBezTo>
                  <a:pt x="8" y="24"/>
                  <a:pt x="8" y="24"/>
                  <a:pt x="8" y="24"/>
                </a:cubicBezTo>
                <a:cubicBezTo>
                  <a:pt x="11" y="33"/>
                  <a:pt x="11" y="33"/>
                  <a:pt x="11" y="33"/>
                </a:cubicBezTo>
                <a:cubicBezTo>
                  <a:pt x="10" y="35"/>
                  <a:pt x="9" y="37"/>
                  <a:pt x="9" y="39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65"/>
                  <a:pt x="0" y="65"/>
                  <a:pt x="0" y="65"/>
                </a:cubicBezTo>
                <a:cubicBezTo>
                  <a:pt x="8" y="69"/>
                  <a:pt x="8" y="69"/>
                  <a:pt x="8" y="69"/>
                </a:cubicBezTo>
                <a:cubicBezTo>
                  <a:pt x="9" y="71"/>
                  <a:pt x="10" y="73"/>
                  <a:pt x="11" y="76"/>
                </a:cubicBezTo>
                <a:cubicBezTo>
                  <a:pt x="8" y="84"/>
                  <a:pt x="8" y="84"/>
                  <a:pt x="8" y="84"/>
                </a:cubicBezTo>
                <a:cubicBezTo>
                  <a:pt x="23" y="100"/>
                  <a:pt x="23" y="100"/>
                  <a:pt x="23" y="100"/>
                </a:cubicBezTo>
                <a:cubicBezTo>
                  <a:pt x="32" y="97"/>
                  <a:pt x="32" y="97"/>
                  <a:pt x="32" y="97"/>
                </a:cubicBezTo>
                <a:cubicBezTo>
                  <a:pt x="34" y="98"/>
                  <a:pt x="36" y="99"/>
                  <a:pt x="39" y="100"/>
                </a:cubicBezTo>
                <a:cubicBezTo>
                  <a:pt x="43" y="108"/>
                  <a:pt x="43" y="108"/>
                  <a:pt x="43" y="108"/>
                </a:cubicBezTo>
                <a:cubicBezTo>
                  <a:pt x="65" y="108"/>
                  <a:pt x="65" y="108"/>
                  <a:pt x="65" y="108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1" y="100"/>
                  <a:pt x="74" y="99"/>
                  <a:pt x="76" y="98"/>
                </a:cubicBezTo>
                <a:cubicBezTo>
                  <a:pt x="84" y="100"/>
                  <a:pt x="84" y="100"/>
                  <a:pt x="84" y="100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97" y="76"/>
                  <a:pt x="97" y="76"/>
                  <a:pt x="97" y="76"/>
                </a:cubicBezTo>
                <a:cubicBezTo>
                  <a:pt x="98" y="74"/>
                  <a:pt x="99" y="72"/>
                  <a:pt x="100" y="69"/>
                </a:cubicBezTo>
                <a:lnTo>
                  <a:pt x="108" y="65"/>
                </a:lnTo>
                <a:close/>
                <a:moveTo>
                  <a:pt x="78" y="54"/>
                </a:moveTo>
                <a:cubicBezTo>
                  <a:pt x="78" y="68"/>
                  <a:pt x="68" y="79"/>
                  <a:pt x="54" y="79"/>
                </a:cubicBezTo>
                <a:cubicBezTo>
                  <a:pt x="41" y="79"/>
                  <a:pt x="30" y="68"/>
                  <a:pt x="30" y="54"/>
                </a:cubicBezTo>
                <a:cubicBezTo>
                  <a:pt x="30" y="41"/>
                  <a:pt x="41" y="30"/>
                  <a:pt x="54" y="30"/>
                </a:cubicBezTo>
                <a:cubicBezTo>
                  <a:pt x="68" y="30"/>
                  <a:pt x="78" y="41"/>
                  <a:pt x="78" y="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6" name="文本框 85"/>
          <p:cNvSpPr txBox="1"/>
          <p:nvPr/>
        </p:nvSpPr>
        <p:spPr>
          <a:xfrm>
            <a:off x="695326" y="2414268"/>
            <a:ext cx="3200948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da-DK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明确探测数据的种类以及精确性要求，选取相应的传感器，设计电路和测控程序，保障各模块能</a:t>
            </a:r>
            <a:r>
              <a:rPr lang="zh-CN" altLang="da-DK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独立稳定运行</a:t>
            </a:r>
          </a:p>
        </p:txBody>
      </p:sp>
      <p:sp>
        <p:nvSpPr>
          <p:cNvPr id="67" name="TextBox 1956"/>
          <p:cNvSpPr/>
          <p:nvPr/>
        </p:nvSpPr>
        <p:spPr>
          <a:xfrm>
            <a:off x="1478915" y="2169160"/>
            <a:ext cx="2366010" cy="2832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 algn="r">
              <a:lnSpc>
                <a:spcPts val="1500"/>
              </a:lnSpc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模块独立运行的分析与设计</a:t>
            </a:r>
          </a:p>
        </p:txBody>
      </p:sp>
      <p:cxnSp>
        <p:nvCxnSpPr>
          <p:cNvPr id="57" name="直接连接符 56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5"/>
          <p:cNvSpPr txBox="1"/>
          <p:nvPr/>
        </p:nvSpPr>
        <p:spPr>
          <a:xfrm>
            <a:off x="447462" y="282863"/>
            <a:ext cx="226171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研究内容及目录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85"/>
          <p:cNvSpPr txBox="1"/>
          <p:nvPr/>
        </p:nvSpPr>
        <p:spPr>
          <a:xfrm>
            <a:off x="4746625" y="1090295"/>
            <a:ext cx="316357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经过三代机型的迭代，第一代</a:t>
            </a:r>
            <a:r>
              <a:rPr lang="en-US" altLang="zh-CN" sz="1100" dirty="0"/>
              <a:t>DustArrow Theta</a:t>
            </a:r>
            <a:r>
              <a:rPr lang="zh-CN" altLang="en-US" sz="1100" dirty="0"/>
              <a:t>通过</a:t>
            </a:r>
            <a:r>
              <a:rPr lang="en-US" altLang="zh-CN" sz="1100" dirty="0"/>
              <a:t>2.54mm</a:t>
            </a:r>
            <a:r>
              <a:rPr lang="zh-CN" altLang="en-US" sz="1100" dirty="0"/>
              <a:t>引脚公母座，实现了简单的板对板</a:t>
            </a:r>
            <a:r>
              <a:rPr lang="zh-CN" altLang="en-US" sz="1100" dirty="0">
                <a:sym typeface="+mn-ea"/>
              </a:rPr>
              <a:t>垂直</a:t>
            </a:r>
            <a:r>
              <a:rPr lang="zh-CN" altLang="en-US" sz="1100" dirty="0"/>
              <a:t>连；第二代</a:t>
            </a:r>
            <a:r>
              <a:rPr lang="en-US" altLang="zh-CN" sz="1100" dirty="0"/>
              <a:t>DustArrow Beta</a:t>
            </a:r>
            <a:r>
              <a:rPr lang="zh-CN" altLang="en-US" sz="1100" dirty="0"/>
              <a:t>通过统一</a:t>
            </a:r>
            <a:r>
              <a:rPr lang="en-US" altLang="zh-CN" sz="1100" dirty="0"/>
              <a:t>PCB</a:t>
            </a:r>
            <a:r>
              <a:rPr lang="zh-CN" altLang="en-US" sz="1100" dirty="0"/>
              <a:t>尺寸、铜柱堆叠安装、</a:t>
            </a:r>
            <a:r>
              <a:rPr lang="en-US" altLang="zh-CN" sz="1100" dirty="0"/>
              <a:t>2.0mm</a:t>
            </a:r>
            <a:r>
              <a:rPr lang="zh-CN" altLang="en-US" sz="1100" dirty="0"/>
              <a:t>端子线连接，实现了初具雏形的模块化结构，第三</a:t>
            </a:r>
            <a:r>
              <a:rPr lang="en-US" altLang="zh-CN" sz="1100" dirty="0"/>
              <a:t>DustArrow X</a:t>
            </a:r>
            <a:r>
              <a:rPr lang="zh-CN" altLang="en-US" sz="1100" dirty="0"/>
              <a:t>完善了各个功能模块的安装结构，通过</a:t>
            </a:r>
            <a:r>
              <a:rPr lang="zh-CN" altLang="en-US" sz="1100" b="1" dirty="0"/>
              <a:t>模块内</a:t>
            </a:r>
            <a:r>
              <a:rPr lang="en-US" altLang="zh-CN" sz="1100" b="1" dirty="0"/>
              <a:t>FPC</a:t>
            </a:r>
            <a:r>
              <a:rPr lang="zh-CN" altLang="en-US" sz="1100" b="1" dirty="0"/>
              <a:t>排线、模块间金手指</a:t>
            </a:r>
            <a:r>
              <a:rPr lang="zh-CN" altLang="en-US" sz="1100" dirty="0"/>
              <a:t>的布局规划，精简了模块体积，实现了</a:t>
            </a:r>
            <a:r>
              <a:rPr lang="zh-CN" altLang="en-US" sz="1100" b="1" dirty="0"/>
              <a:t>零导线</a:t>
            </a:r>
            <a:r>
              <a:rPr lang="zh-CN" altLang="en-US" sz="1100" dirty="0"/>
              <a:t>的简洁高效连接</a:t>
            </a:r>
          </a:p>
        </p:txBody>
      </p:sp>
      <p:sp>
        <p:nvSpPr>
          <p:cNvPr id="8" name="TextBox 1956"/>
          <p:cNvSpPr/>
          <p:nvPr/>
        </p:nvSpPr>
        <p:spPr>
          <a:xfrm>
            <a:off x="4702168" y="810119"/>
            <a:ext cx="3089282" cy="2832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各模块连接方式的构想与实践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46690" y="3543115"/>
            <a:ext cx="3139765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在智慧城市发展潮流的推动下，将模块化遥测系统接入城市的</a:t>
            </a:r>
            <a:r>
              <a:rPr lang="zh-CN" altLang="en-US" sz="1100" b="1" dirty="0"/>
              <a:t>物联网布局</a:t>
            </a:r>
            <a:r>
              <a:rPr lang="zh-CN" altLang="en-US" sz="1100" dirty="0"/>
              <a:t>，多部门协调统筹管理，对恶劣气象灾害的预防治理整体规划，统一部署，让</a:t>
            </a:r>
            <a:r>
              <a:rPr lang="zh-CN" altLang="en-US" sz="1100" b="1" dirty="0"/>
              <a:t>模块化思想出现</a:t>
            </a:r>
            <a:r>
              <a:rPr lang="zh-CN" altLang="en-US" sz="1100" dirty="0"/>
              <a:t>在城市的个各角落，让沙尘利“箭”带来天朗气清</a:t>
            </a:r>
          </a:p>
        </p:txBody>
      </p:sp>
      <p:sp>
        <p:nvSpPr>
          <p:cNvPr id="7" name="TextBox 1956"/>
          <p:cNvSpPr/>
          <p:nvPr/>
        </p:nvSpPr>
        <p:spPr>
          <a:xfrm>
            <a:off x="4732693" y="3274317"/>
            <a:ext cx="3677882" cy="2832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智能化灾害预防的探索与创新</a:t>
            </a:r>
          </a:p>
        </p:txBody>
      </p:sp>
      <p:cxnSp>
        <p:nvCxnSpPr>
          <p:cNvPr id="11" name="直接连接符 10"/>
          <p:cNvCxnSpPr>
            <a:stCxn id="56" idx="0"/>
          </p:cNvCxnSpPr>
          <p:nvPr/>
        </p:nvCxnSpPr>
        <p:spPr>
          <a:xfrm>
            <a:off x="4312404" y="881485"/>
            <a:ext cx="0" cy="3349214"/>
          </a:xfrm>
          <a:prstGeom prst="line">
            <a:avLst/>
          </a:prstGeom>
          <a:ln w="9525">
            <a:solidFill>
              <a:srgbClr val="1B436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1812"/>
          <p:cNvSpPr/>
          <p:nvPr/>
        </p:nvSpPr>
        <p:spPr>
          <a:xfrm>
            <a:off x="3964898" y="3380171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142712" y="3565225"/>
            <a:ext cx="328973" cy="330996"/>
            <a:chOff x="5595939" y="4999038"/>
            <a:chExt cx="515938" cy="519113"/>
          </a:xfrm>
          <a:solidFill>
            <a:schemeClr val="bg1"/>
          </a:solidFill>
        </p:grpSpPr>
        <p:sp>
          <p:nvSpPr>
            <p:cNvPr id="49" name="Freeform 5"/>
            <p:cNvSpPr/>
            <p:nvPr/>
          </p:nvSpPr>
          <p:spPr bwMode="auto">
            <a:xfrm>
              <a:off x="5599114" y="4999038"/>
              <a:ext cx="430213" cy="303213"/>
            </a:xfrm>
            <a:custGeom>
              <a:avLst/>
              <a:gdLst>
                <a:gd name="T0" fmla="*/ 298 w 298"/>
                <a:gd name="T1" fmla="*/ 81 h 211"/>
                <a:gd name="T2" fmla="*/ 292 w 298"/>
                <a:gd name="T3" fmla="*/ 0 h 211"/>
                <a:gd name="T4" fmla="*/ 210 w 298"/>
                <a:gd name="T5" fmla="*/ 30 h 211"/>
                <a:gd name="T6" fmla="*/ 242 w 298"/>
                <a:gd name="T7" fmla="*/ 48 h 211"/>
                <a:gd name="T8" fmla="*/ 100 w 298"/>
                <a:gd name="T9" fmla="*/ 155 h 211"/>
                <a:gd name="T10" fmla="*/ 1 w 298"/>
                <a:gd name="T11" fmla="*/ 169 h 211"/>
                <a:gd name="T12" fmla="*/ 1 w 298"/>
                <a:gd name="T13" fmla="*/ 188 h 211"/>
                <a:gd name="T14" fmla="*/ 1 w 298"/>
                <a:gd name="T15" fmla="*/ 207 h 211"/>
                <a:gd name="T16" fmla="*/ 1 w 298"/>
                <a:gd name="T17" fmla="*/ 207 h 211"/>
                <a:gd name="T18" fmla="*/ 112 w 298"/>
                <a:gd name="T19" fmla="*/ 191 h 211"/>
                <a:gd name="T20" fmla="*/ 208 w 298"/>
                <a:gd name="T21" fmla="*/ 139 h 211"/>
                <a:gd name="T22" fmla="*/ 275 w 298"/>
                <a:gd name="T23" fmla="*/ 68 h 211"/>
                <a:gd name="T24" fmla="*/ 298 w 298"/>
                <a:gd name="T25" fmla="*/ 8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8" h="211">
                  <a:moveTo>
                    <a:pt x="298" y="81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10" y="30"/>
                    <a:pt x="210" y="30"/>
                    <a:pt x="210" y="30"/>
                  </a:cubicBezTo>
                  <a:cubicBezTo>
                    <a:pt x="242" y="48"/>
                    <a:pt x="242" y="48"/>
                    <a:pt x="242" y="48"/>
                  </a:cubicBezTo>
                  <a:cubicBezTo>
                    <a:pt x="208" y="98"/>
                    <a:pt x="160" y="133"/>
                    <a:pt x="100" y="155"/>
                  </a:cubicBezTo>
                  <a:cubicBezTo>
                    <a:pt x="46" y="174"/>
                    <a:pt x="1" y="169"/>
                    <a:pt x="1" y="169"/>
                  </a:cubicBezTo>
                  <a:cubicBezTo>
                    <a:pt x="1" y="188"/>
                    <a:pt x="1" y="188"/>
                    <a:pt x="1" y="188"/>
                  </a:cubicBezTo>
                  <a:cubicBezTo>
                    <a:pt x="1" y="207"/>
                    <a:pt x="1" y="207"/>
                    <a:pt x="1" y="207"/>
                  </a:cubicBezTo>
                  <a:cubicBezTo>
                    <a:pt x="1" y="207"/>
                    <a:pt x="0" y="207"/>
                    <a:pt x="1" y="207"/>
                  </a:cubicBezTo>
                  <a:cubicBezTo>
                    <a:pt x="8" y="207"/>
                    <a:pt x="55" y="211"/>
                    <a:pt x="112" y="191"/>
                  </a:cubicBezTo>
                  <a:cubicBezTo>
                    <a:pt x="147" y="179"/>
                    <a:pt x="180" y="161"/>
                    <a:pt x="208" y="139"/>
                  </a:cubicBezTo>
                  <a:cubicBezTo>
                    <a:pt x="234" y="119"/>
                    <a:pt x="256" y="95"/>
                    <a:pt x="275" y="68"/>
                  </a:cubicBezTo>
                  <a:lnTo>
                    <a:pt x="298" y="8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Rectangle 6"/>
            <p:cNvSpPr>
              <a:spLocks noChangeArrowheads="1"/>
            </p:cNvSpPr>
            <p:nvPr/>
          </p:nvSpPr>
          <p:spPr bwMode="auto">
            <a:xfrm>
              <a:off x="5595939" y="5345113"/>
              <a:ext cx="100013" cy="109538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1" name="Freeform 7"/>
            <p:cNvSpPr/>
            <p:nvPr/>
          </p:nvSpPr>
          <p:spPr bwMode="auto">
            <a:xfrm>
              <a:off x="5713414" y="5310188"/>
              <a:ext cx="98425" cy="144463"/>
            </a:xfrm>
            <a:custGeom>
              <a:avLst/>
              <a:gdLst>
                <a:gd name="T0" fmla="*/ 62 w 62"/>
                <a:gd name="T1" fmla="*/ 0 h 91"/>
                <a:gd name="T2" fmla="*/ 1 w 62"/>
                <a:gd name="T3" fmla="*/ 0 h 91"/>
                <a:gd name="T4" fmla="*/ 0 w 62"/>
                <a:gd name="T5" fmla="*/ 91 h 91"/>
                <a:gd name="T6" fmla="*/ 62 w 62"/>
                <a:gd name="T7" fmla="*/ 91 h 91"/>
                <a:gd name="T8" fmla="*/ 62 w 62"/>
                <a:gd name="T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91">
                  <a:moveTo>
                    <a:pt x="62" y="0"/>
                  </a:moveTo>
                  <a:lnTo>
                    <a:pt x="1" y="0"/>
                  </a:lnTo>
                  <a:lnTo>
                    <a:pt x="0" y="91"/>
                  </a:lnTo>
                  <a:lnTo>
                    <a:pt x="62" y="91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2" name="Rectangle 8"/>
            <p:cNvSpPr>
              <a:spLocks noChangeArrowheads="1"/>
            </p:cNvSpPr>
            <p:nvPr/>
          </p:nvSpPr>
          <p:spPr bwMode="auto">
            <a:xfrm>
              <a:off x="5830889" y="5260976"/>
              <a:ext cx="98425" cy="193675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Rectangle 9"/>
            <p:cNvSpPr>
              <a:spLocks noChangeArrowheads="1"/>
            </p:cNvSpPr>
            <p:nvPr/>
          </p:nvSpPr>
          <p:spPr bwMode="auto">
            <a:xfrm>
              <a:off x="5948364" y="5183188"/>
              <a:ext cx="98425" cy="271463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4" name="Freeform 10"/>
            <p:cNvSpPr/>
            <p:nvPr/>
          </p:nvSpPr>
          <p:spPr bwMode="auto">
            <a:xfrm>
              <a:off x="5595939" y="4999038"/>
              <a:ext cx="515938" cy="519113"/>
            </a:xfrm>
            <a:custGeom>
              <a:avLst/>
              <a:gdLst>
                <a:gd name="T0" fmla="*/ 343 w 358"/>
                <a:gd name="T1" fmla="*/ 0 h 361"/>
                <a:gd name="T2" fmla="*/ 343 w 358"/>
                <a:gd name="T3" fmla="*/ 0 h 361"/>
                <a:gd name="T4" fmla="*/ 343 w 358"/>
                <a:gd name="T5" fmla="*/ 0 h 361"/>
                <a:gd name="T6" fmla="*/ 334 w 358"/>
                <a:gd name="T7" fmla="*/ 4 h 361"/>
                <a:gd name="T8" fmla="*/ 329 w 358"/>
                <a:gd name="T9" fmla="*/ 14 h 361"/>
                <a:gd name="T10" fmla="*/ 339 w 358"/>
                <a:gd name="T11" fmla="*/ 28 h 361"/>
                <a:gd name="T12" fmla="*/ 339 w 358"/>
                <a:gd name="T13" fmla="*/ 343 h 361"/>
                <a:gd name="T14" fmla="*/ 29 w 358"/>
                <a:gd name="T15" fmla="*/ 343 h 361"/>
                <a:gd name="T16" fmla="*/ 15 w 358"/>
                <a:gd name="T17" fmla="*/ 332 h 361"/>
                <a:gd name="T18" fmla="*/ 0 w 358"/>
                <a:gd name="T19" fmla="*/ 347 h 361"/>
                <a:gd name="T20" fmla="*/ 0 w 358"/>
                <a:gd name="T21" fmla="*/ 348 h 361"/>
                <a:gd name="T22" fmla="*/ 15 w 358"/>
                <a:gd name="T23" fmla="*/ 361 h 361"/>
                <a:gd name="T24" fmla="*/ 29 w 358"/>
                <a:gd name="T25" fmla="*/ 351 h 361"/>
                <a:gd name="T26" fmla="*/ 347 w 358"/>
                <a:gd name="T27" fmla="*/ 351 h 361"/>
                <a:gd name="T28" fmla="*/ 347 w 358"/>
                <a:gd name="T29" fmla="*/ 28 h 361"/>
                <a:gd name="T30" fmla="*/ 358 w 358"/>
                <a:gd name="T31" fmla="*/ 14 h 361"/>
                <a:gd name="T32" fmla="*/ 343 w 358"/>
                <a:gd name="T33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8" h="361">
                  <a:moveTo>
                    <a:pt x="343" y="0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43" y="0"/>
                    <a:pt x="343" y="0"/>
                    <a:pt x="343" y="0"/>
                  </a:cubicBezTo>
                  <a:cubicBezTo>
                    <a:pt x="339" y="0"/>
                    <a:pt x="336" y="1"/>
                    <a:pt x="334" y="4"/>
                  </a:cubicBezTo>
                  <a:cubicBezTo>
                    <a:pt x="331" y="6"/>
                    <a:pt x="329" y="10"/>
                    <a:pt x="329" y="14"/>
                  </a:cubicBezTo>
                  <a:cubicBezTo>
                    <a:pt x="329" y="21"/>
                    <a:pt x="333" y="26"/>
                    <a:pt x="339" y="28"/>
                  </a:cubicBezTo>
                  <a:cubicBezTo>
                    <a:pt x="339" y="343"/>
                    <a:pt x="339" y="343"/>
                    <a:pt x="339" y="343"/>
                  </a:cubicBezTo>
                  <a:cubicBezTo>
                    <a:pt x="29" y="343"/>
                    <a:pt x="29" y="343"/>
                    <a:pt x="29" y="343"/>
                  </a:cubicBezTo>
                  <a:cubicBezTo>
                    <a:pt x="27" y="337"/>
                    <a:pt x="21" y="332"/>
                    <a:pt x="15" y="332"/>
                  </a:cubicBezTo>
                  <a:cubicBezTo>
                    <a:pt x="7" y="332"/>
                    <a:pt x="0" y="339"/>
                    <a:pt x="0" y="347"/>
                  </a:cubicBezTo>
                  <a:cubicBezTo>
                    <a:pt x="0" y="347"/>
                    <a:pt x="0" y="348"/>
                    <a:pt x="0" y="348"/>
                  </a:cubicBezTo>
                  <a:cubicBezTo>
                    <a:pt x="1" y="355"/>
                    <a:pt x="7" y="361"/>
                    <a:pt x="15" y="361"/>
                  </a:cubicBezTo>
                  <a:cubicBezTo>
                    <a:pt x="21" y="361"/>
                    <a:pt x="27" y="357"/>
                    <a:pt x="29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28"/>
                    <a:pt x="347" y="28"/>
                    <a:pt x="347" y="28"/>
                  </a:cubicBezTo>
                  <a:cubicBezTo>
                    <a:pt x="353" y="27"/>
                    <a:pt x="358" y="21"/>
                    <a:pt x="358" y="14"/>
                  </a:cubicBezTo>
                  <a:cubicBezTo>
                    <a:pt x="358" y="6"/>
                    <a:pt x="351" y="0"/>
                    <a:pt x="343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6" name="Freeform 1812"/>
          <p:cNvSpPr/>
          <p:nvPr/>
        </p:nvSpPr>
        <p:spPr>
          <a:xfrm>
            <a:off x="3964898" y="768428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097533" y="967007"/>
            <a:ext cx="425328" cy="289631"/>
            <a:chOff x="5842315" y="2065986"/>
            <a:chExt cx="592138" cy="403225"/>
          </a:xfrm>
          <a:solidFill>
            <a:schemeClr val="bg1"/>
          </a:solidFill>
        </p:grpSpPr>
        <p:sp>
          <p:nvSpPr>
            <p:cNvPr id="36" name="Oval 14"/>
            <p:cNvSpPr>
              <a:spLocks noChangeArrowheads="1"/>
            </p:cNvSpPr>
            <p:nvPr/>
          </p:nvSpPr>
          <p:spPr bwMode="auto">
            <a:xfrm>
              <a:off x="6050278" y="2065986"/>
              <a:ext cx="174625" cy="171450"/>
            </a:xfrm>
            <a:prstGeom prst="ellipse">
              <a:avLst/>
            </a:pr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842315" y="2112023"/>
              <a:ext cx="592138" cy="357188"/>
              <a:chOff x="5543551" y="2033588"/>
              <a:chExt cx="592138" cy="357188"/>
            </a:xfrm>
            <a:grpFill/>
          </p:grpSpPr>
          <p:sp>
            <p:nvSpPr>
              <p:cNvPr id="38" name="Freeform 15"/>
              <p:cNvSpPr/>
              <p:nvPr/>
            </p:nvSpPr>
            <p:spPr bwMode="auto">
              <a:xfrm>
                <a:off x="5681664" y="2170113"/>
                <a:ext cx="315913" cy="220663"/>
              </a:xfrm>
              <a:custGeom>
                <a:avLst/>
                <a:gdLst>
                  <a:gd name="T0" fmla="*/ 219 w 219"/>
                  <a:gd name="T1" fmla="*/ 93 h 154"/>
                  <a:gd name="T2" fmla="*/ 156 w 219"/>
                  <a:gd name="T3" fmla="*/ 0 h 154"/>
                  <a:gd name="T4" fmla="*/ 110 w 219"/>
                  <a:gd name="T5" fmla="*/ 125 h 154"/>
                  <a:gd name="T6" fmla="*/ 64 w 219"/>
                  <a:gd name="T7" fmla="*/ 0 h 154"/>
                  <a:gd name="T8" fmla="*/ 0 w 219"/>
                  <a:gd name="T9" fmla="*/ 93 h 154"/>
                  <a:gd name="T10" fmla="*/ 0 w 219"/>
                  <a:gd name="T11" fmla="*/ 96 h 154"/>
                  <a:gd name="T12" fmla="*/ 0 w 219"/>
                  <a:gd name="T13" fmla="*/ 97 h 154"/>
                  <a:gd name="T14" fmla="*/ 110 w 219"/>
                  <a:gd name="T15" fmla="*/ 154 h 154"/>
                  <a:gd name="T16" fmla="*/ 219 w 219"/>
                  <a:gd name="T17" fmla="*/ 97 h 154"/>
                  <a:gd name="T18" fmla="*/ 219 w 219"/>
                  <a:gd name="T19" fmla="*/ 96 h 154"/>
                  <a:gd name="T20" fmla="*/ 219 w 219"/>
                  <a:gd name="T21" fmla="*/ 93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9" h="154">
                    <a:moveTo>
                      <a:pt x="219" y="93"/>
                    </a:moveTo>
                    <a:cubicBezTo>
                      <a:pt x="217" y="52"/>
                      <a:pt x="191" y="16"/>
                      <a:pt x="156" y="0"/>
                    </a:cubicBezTo>
                    <a:cubicBezTo>
                      <a:pt x="110" y="125"/>
                      <a:pt x="110" y="125"/>
                      <a:pt x="110" y="125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8" y="16"/>
                      <a:pt x="2" y="52"/>
                      <a:pt x="0" y="93"/>
                    </a:cubicBezTo>
                    <a:cubicBezTo>
                      <a:pt x="0" y="94"/>
                      <a:pt x="0" y="95"/>
                      <a:pt x="0" y="96"/>
                    </a:cubicBezTo>
                    <a:cubicBezTo>
                      <a:pt x="0" y="96"/>
                      <a:pt x="0" y="97"/>
                      <a:pt x="0" y="97"/>
                    </a:cubicBezTo>
                    <a:cubicBezTo>
                      <a:pt x="1" y="122"/>
                      <a:pt x="50" y="154"/>
                      <a:pt x="110" y="154"/>
                    </a:cubicBezTo>
                    <a:cubicBezTo>
                      <a:pt x="169" y="154"/>
                      <a:pt x="218" y="122"/>
                      <a:pt x="219" y="97"/>
                    </a:cubicBezTo>
                    <a:cubicBezTo>
                      <a:pt x="219" y="97"/>
                      <a:pt x="219" y="96"/>
                      <a:pt x="219" y="96"/>
                    </a:cubicBezTo>
                    <a:cubicBezTo>
                      <a:pt x="219" y="95"/>
                      <a:pt x="219" y="94"/>
                      <a:pt x="219" y="93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Freeform 16"/>
              <p:cNvSpPr/>
              <p:nvPr/>
            </p:nvSpPr>
            <p:spPr bwMode="auto">
              <a:xfrm>
                <a:off x="5824539" y="2165351"/>
                <a:ext cx="31750" cy="31750"/>
              </a:xfrm>
              <a:custGeom>
                <a:avLst/>
                <a:gdLst>
                  <a:gd name="T0" fmla="*/ 10 w 20"/>
                  <a:gd name="T1" fmla="*/ 0 h 20"/>
                  <a:gd name="T2" fmla="*/ 20 w 20"/>
                  <a:gd name="T3" fmla="*/ 10 h 20"/>
                  <a:gd name="T4" fmla="*/ 10 w 20"/>
                  <a:gd name="T5" fmla="*/ 20 h 20"/>
                  <a:gd name="T6" fmla="*/ 0 w 20"/>
                  <a:gd name="T7" fmla="*/ 10 h 20"/>
                  <a:gd name="T8" fmla="*/ 10 w 20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lnTo>
                      <a:pt x="20" y="10"/>
                    </a:lnTo>
                    <a:lnTo>
                      <a:pt x="10" y="20"/>
                    </a:lnTo>
                    <a:lnTo>
                      <a:pt x="0" y="1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Freeform 17"/>
              <p:cNvSpPr/>
              <p:nvPr/>
            </p:nvSpPr>
            <p:spPr bwMode="auto">
              <a:xfrm>
                <a:off x="5816601" y="2197101"/>
                <a:ext cx="46038" cy="117475"/>
              </a:xfrm>
              <a:custGeom>
                <a:avLst/>
                <a:gdLst>
                  <a:gd name="T0" fmla="*/ 21 w 29"/>
                  <a:gd name="T1" fmla="*/ 6 h 74"/>
                  <a:gd name="T2" fmla="*/ 15 w 29"/>
                  <a:gd name="T3" fmla="*/ 0 h 74"/>
                  <a:gd name="T4" fmla="*/ 7 w 29"/>
                  <a:gd name="T5" fmla="*/ 6 h 74"/>
                  <a:gd name="T6" fmla="*/ 0 w 29"/>
                  <a:gd name="T7" fmla="*/ 37 h 74"/>
                  <a:gd name="T8" fmla="*/ 15 w 29"/>
                  <a:gd name="T9" fmla="*/ 74 h 74"/>
                  <a:gd name="T10" fmla="*/ 29 w 29"/>
                  <a:gd name="T11" fmla="*/ 37 h 74"/>
                  <a:gd name="T12" fmla="*/ 21 w 29"/>
                  <a:gd name="T13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74">
                    <a:moveTo>
                      <a:pt x="21" y="6"/>
                    </a:moveTo>
                    <a:lnTo>
                      <a:pt x="15" y="0"/>
                    </a:lnTo>
                    <a:lnTo>
                      <a:pt x="7" y="6"/>
                    </a:lnTo>
                    <a:lnTo>
                      <a:pt x="0" y="37"/>
                    </a:lnTo>
                    <a:lnTo>
                      <a:pt x="15" y="74"/>
                    </a:lnTo>
                    <a:lnTo>
                      <a:pt x="29" y="37"/>
                    </a:lnTo>
                    <a:lnTo>
                      <a:pt x="21" y="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18"/>
              <p:cNvSpPr/>
              <p:nvPr/>
            </p:nvSpPr>
            <p:spPr bwMode="auto">
              <a:xfrm>
                <a:off x="5956301" y="2033588"/>
                <a:ext cx="127000" cy="125413"/>
              </a:xfrm>
              <a:custGeom>
                <a:avLst/>
                <a:gdLst>
                  <a:gd name="T0" fmla="*/ 88 w 88"/>
                  <a:gd name="T1" fmla="*/ 44 h 87"/>
                  <a:gd name="T2" fmla="*/ 44 w 88"/>
                  <a:gd name="T3" fmla="*/ 0 h 87"/>
                  <a:gd name="T4" fmla="*/ 0 w 88"/>
                  <a:gd name="T5" fmla="*/ 44 h 87"/>
                  <a:gd name="T6" fmla="*/ 44 w 88"/>
                  <a:gd name="T7" fmla="*/ 87 h 87"/>
                  <a:gd name="T8" fmla="*/ 88 w 88"/>
                  <a:gd name="T9" fmla="*/ 4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7">
                    <a:moveTo>
                      <a:pt x="88" y="44"/>
                    </a:moveTo>
                    <a:cubicBezTo>
                      <a:pt x="88" y="19"/>
                      <a:pt x="68" y="0"/>
                      <a:pt x="44" y="0"/>
                    </a:cubicBezTo>
                    <a:cubicBezTo>
                      <a:pt x="20" y="0"/>
                      <a:pt x="1" y="19"/>
                      <a:pt x="0" y="44"/>
                    </a:cubicBezTo>
                    <a:cubicBezTo>
                      <a:pt x="0" y="68"/>
                      <a:pt x="20" y="87"/>
                      <a:pt x="44" y="87"/>
                    </a:cubicBezTo>
                    <a:cubicBezTo>
                      <a:pt x="68" y="87"/>
                      <a:pt x="88" y="68"/>
                      <a:pt x="88" y="44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Freeform 19"/>
              <p:cNvSpPr/>
              <p:nvPr/>
            </p:nvSpPr>
            <p:spPr bwMode="auto">
              <a:xfrm>
                <a:off x="6008689" y="2162176"/>
                <a:ext cx="23813" cy="23813"/>
              </a:xfrm>
              <a:custGeom>
                <a:avLst/>
                <a:gdLst>
                  <a:gd name="T0" fmla="*/ 7 w 15"/>
                  <a:gd name="T1" fmla="*/ 0 h 15"/>
                  <a:gd name="T2" fmla="*/ 15 w 15"/>
                  <a:gd name="T3" fmla="*/ 7 h 15"/>
                  <a:gd name="T4" fmla="*/ 7 w 15"/>
                  <a:gd name="T5" fmla="*/ 15 h 15"/>
                  <a:gd name="T6" fmla="*/ 0 w 15"/>
                  <a:gd name="T7" fmla="*/ 7 h 15"/>
                  <a:gd name="T8" fmla="*/ 7 w 15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lnTo>
                      <a:pt x="15" y="7"/>
                    </a:lnTo>
                    <a:lnTo>
                      <a:pt x="7" y="15"/>
                    </a:lnTo>
                    <a:lnTo>
                      <a:pt x="0" y="7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Freeform 20"/>
              <p:cNvSpPr/>
              <p:nvPr/>
            </p:nvSpPr>
            <p:spPr bwMode="auto">
              <a:xfrm>
                <a:off x="6003926" y="2185988"/>
                <a:ext cx="33338" cy="85725"/>
              </a:xfrm>
              <a:custGeom>
                <a:avLst/>
                <a:gdLst>
                  <a:gd name="T0" fmla="*/ 16 w 21"/>
                  <a:gd name="T1" fmla="*/ 4 h 54"/>
                  <a:gd name="T2" fmla="*/ 10 w 21"/>
                  <a:gd name="T3" fmla="*/ 0 h 54"/>
                  <a:gd name="T4" fmla="*/ 6 w 21"/>
                  <a:gd name="T5" fmla="*/ 4 h 54"/>
                  <a:gd name="T6" fmla="*/ 0 w 21"/>
                  <a:gd name="T7" fmla="*/ 27 h 54"/>
                  <a:gd name="T8" fmla="*/ 10 w 21"/>
                  <a:gd name="T9" fmla="*/ 54 h 54"/>
                  <a:gd name="T10" fmla="*/ 21 w 21"/>
                  <a:gd name="T11" fmla="*/ 27 h 54"/>
                  <a:gd name="T12" fmla="*/ 16 w 21"/>
                  <a:gd name="T13" fmla="*/ 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54">
                    <a:moveTo>
                      <a:pt x="16" y="4"/>
                    </a:moveTo>
                    <a:lnTo>
                      <a:pt x="10" y="0"/>
                    </a:lnTo>
                    <a:lnTo>
                      <a:pt x="6" y="4"/>
                    </a:lnTo>
                    <a:lnTo>
                      <a:pt x="0" y="27"/>
                    </a:lnTo>
                    <a:lnTo>
                      <a:pt x="10" y="54"/>
                    </a:lnTo>
                    <a:lnTo>
                      <a:pt x="21" y="27"/>
                    </a:lnTo>
                    <a:lnTo>
                      <a:pt x="16" y="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Oval 21"/>
              <p:cNvSpPr>
                <a:spLocks noChangeArrowheads="1"/>
              </p:cNvSpPr>
              <p:nvPr/>
            </p:nvSpPr>
            <p:spPr bwMode="auto">
              <a:xfrm>
                <a:off x="5594351" y="2033588"/>
                <a:ext cx="127000" cy="125413"/>
              </a:xfrm>
              <a:prstGeom prst="ellipse">
                <a:avLst/>
              </a:pr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Freeform 22"/>
              <p:cNvSpPr/>
              <p:nvPr/>
            </p:nvSpPr>
            <p:spPr bwMode="auto">
              <a:xfrm>
                <a:off x="5543551" y="2165351"/>
                <a:ext cx="190500" cy="161925"/>
              </a:xfrm>
              <a:custGeom>
                <a:avLst/>
                <a:gdLst>
                  <a:gd name="T0" fmla="*/ 91 w 133"/>
                  <a:gd name="T1" fmla="*/ 100 h 112"/>
                  <a:gd name="T2" fmla="*/ 91 w 133"/>
                  <a:gd name="T3" fmla="*/ 100 h 112"/>
                  <a:gd name="T4" fmla="*/ 91 w 133"/>
                  <a:gd name="T5" fmla="*/ 99 h 112"/>
                  <a:gd name="T6" fmla="*/ 91 w 133"/>
                  <a:gd name="T7" fmla="*/ 96 h 112"/>
                  <a:gd name="T8" fmla="*/ 133 w 133"/>
                  <a:gd name="T9" fmla="*/ 13 h 112"/>
                  <a:gd name="T10" fmla="*/ 114 w 133"/>
                  <a:gd name="T11" fmla="*/ 0 h 112"/>
                  <a:gd name="T12" fmla="*/ 80 w 133"/>
                  <a:gd name="T13" fmla="*/ 92 h 112"/>
                  <a:gd name="T14" fmla="*/ 47 w 133"/>
                  <a:gd name="T15" fmla="*/ 0 h 112"/>
                  <a:gd name="T16" fmla="*/ 0 w 133"/>
                  <a:gd name="T17" fmla="*/ 68 h 112"/>
                  <a:gd name="T18" fmla="*/ 0 w 133"/>
                  <a:gd name="T19" fmla="*/ 70 h 112"/>
                  <a:gd name="T20" fmla="*/ 0 w 133"/>
                  <a:gd name="T21" fmla="*/ 71 h 112"/>
                  <a:gd name="T22" fmla="*/ 80 w 133"/>
                  <a:gd name="T23" fmla="*/ 112 h 112"/>
                  <a:gd name="T24" fmla="*/ 94 w 133"/>
                  <a:gd name="T25" fmla="*/ 112 h 112"/>
                  <a:gd name="T26" fmla="*/ 91 w 133"/>
                  <a:gd name="T27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112">
                    <a:moveTo>
                      <a:pt x="91" y="100"/>
                    </a:moveTo>
                    <a:cubicBezTo>
                      <a:pt x="91" y="100"/>
                      <a:pt x="91" y="100"/>
                      <a:pt x="91" y="100"/>
                    </a:cubicBezTo>
                    <a:cubicBezTo>
                      <a:pt x="91" y="100"/>
                      <a:pt x="91" y="100"/>
                      <a:pt x="91" y="99"/>
                    </a:cubicBezTo>
                    <a:cubicBezTo>
                      <a:pt x="91" y="98"/>
                      <a:pt x="91" y="97"/>
                      <a:pt x="91" y="96"/>
                    </a:cubicBezTo>
                    <a:cubicBezTo>
                      <a:pt x="93" y="63"/>
                      <a:pt x="108" y="33"/>
                      <a:pt x="133" y="13"/>
                    </a:cubicBezTo>
                    <a:cubicBezTo>
                      <a:pt x="127" y="8"/>
                      <a:pt x="121" y="4"/>
                      <a:pt x="114" y="0"/>
                    </a:cubicBezTo>
                    <a:cubicBezTo>
                      <a:pt x="80" y="92"/>
                      <a:pt x="80" y="92"/>
                      <a:pt x="80" y="92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21" y="12"/>
                      <a:pt x="2" y="38"/>
                      <a:pt x="0" y="68"/>
                    </a:cubicBezTo>
                    <a:cubicBezTo>
                      <a:pt x="0" y="69"/>
                      <a:pt x="0" y="70"/>
                      <a:pt x="0" y="7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" y="90"/>
                      <a:pt x="37" y="112"/>
                      <a:pt x="80" y="112"/>
                    </a:cubicBezTo>
                    <a:cubicBezTo>
                      <a:pt x="85" y="112"/>
                      <a:pt x="89" y="112"/>
                      <a:pt x="94" y="112"/>
                    </a:cubicBezTo>
                    <a:cubicBezTo>
                      <a:pt x="92" y="108"/>
                      <a:pt x="91" y="104"/>
                      <a:pt x="91" y="10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Freeform 23"/>
              <p:cNvSpPr/>
              <p:nvPr/>
            </p:nvSpPr>
            <p:spPr bwMode="auto">
              <a:xfrm>
                <a:off x="5646739" y="2162176"/>
                <a:ext cx="23813" cy="23813"/>
              </a:xfrm>
              <a:custGeom>
                <a:avLst/>
                <a:gdLst>
                  <a:gd name="T0" fmla="*/ 7 w 15"/>
                  <a:gd name="T1" fmla="*/ 0 h 15"/>
                  <a:gd name="T2" fmla="*/ 15 w 15"/>
                  <a:gd name="T3" fmla="*/ 7 h 15"/>
                  <a:gd name="T4" fmla="*/ 7 w 15"/>
                  <a:gd name="T5" fmla="*/ 15 h 15"/>
                  <a:gd name="T6" fmla="*/ 0 w 15"/>
                  <a:gd name="T7" fmla="*/ 7 h 15"/>
                  <a:gd name="T8" fmla="*/ 7 w 15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lnTo>
                      <a:pt x="15" y="7"/>
                    </a:lnTo>
                    <a:lnTo>
                      <a:pt x="7" y="15"/>
                    </a:lnTo>
                    <a:lnTo>
                      <a:pt x="0" y="7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24"/>
              <p:cNvSpPr/>
              <p:nvPr/>
            </p:nvSpPr>
            <p:spPr bwMode="auto">
              <a:xfrm>
                <a:off x="5641976" y="2185988"/>
                <a:ext cx="33338" cy="85725"/>
              </a:xfrm>
              <a:custGeom>
                <a:avLst/>
                <a:gdLst>
                  <a:gd name="T0" fmla="*/ 16 w 21"/>
                  <a:gd name="T1" fmla="*/ 4 h 54"/>
                  <a:gd name="T2" fmla="*/ 10 w 21"/>
                  <a:gd name="T3" fmla="*/ 0 h 54"/>
                  <a:gd name="T4" fmla="*/ 5 w 21"/>
                  <a:gd name="T5" fmla="*/ 4 h 54"/>
                  <a:gd name="T6" fmla="*/ 0 w 21"/>
                  <a:gd name="T7" fmla="*/ 27 h 54"/>
                  <a:gd name="T8" fmla="*/ 10 w 21"/>
                  <a:gd name="T9" fmla="*/ 54 h 54"/>
                  <a:gd name="T10" fmla="*/ 21 w 21"/>
                  <a:gd name="T11" fmla="*/ 27 h 54"/>
                  <a:gd name="T12" fmla="*/ 16 w 21"/>
                  <a:gd name="T13" fmla="*/ 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54">
                    <a:moveTo>
                      <a:pt x="16" y="4"/>
                    </a:moveTo>
                    <a:lnTo>
                      <a:pt x="10" y="0"/>
                    </a:lnTo>
                    <a:lnTo>
                      <a:pt x="5" y="4"/>
                    </a:lnTo>
                    <a:lnTo>
                      <a:pt x="0" y="27"/>
                    </a:lnTo>
                    <a:lnTo>
                      <a:pt x="10" y="54"/>
                    </a:lnTo>
                    <a:lnTo>
                      <a:pt x="21" y="27"/>
                    </a:lnTo>
                    <a:lnTo>
                      <a:pt x="16" y="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Freeform 25"/>
              <p:cNvSpPr/>
              <p:nvPr/>
            </p:nvSpPr>
            <p:spPr bwMode="auto">
              <a:xfrm>
                <a:off x="5943601" y="2165351"/>
                <a:ext cx="192088" cy="161925"/>
              </a:xfrm>
              <a:custGeom>
                <a:avLst/>
                <a:gdLst>
                  <a:gd name="T0" fmla="*/ 133 w 133"/>
                  <a:gd name="T1" fmla="*/ 69 h 113"/>
                  <a:gd name="T2" fmla="*/ 87 w 133"/>
                  <a:gd name="T3" fmla="*/ 0 h 113"/>
                  <a:gd name="T4" fmla="*/ 53 w 133"/>
                  <a:gd name="T5" fmla="*/ 92 h 113"/>
                  <a:gd name="T6" fmla="*/ 20 w 133"/>
                  <a:gd name="T7" fmla="*/ 0 h 113"/>
                  <a:gd name="T8" fmla="*/ 0 w 133"/>
                  <a:gd name="T9" fmla="*/ 13 h 113"/>
                  <a:gd name="T10" fmla="*/ 22 w 133"/>
                  <a:gd name="T11" fmla="*/ 37 h 113"/>
                  <a:gd name="T12" fmla="*/ 43 w 133"/>
                  <a:gd name="T13" fmla="*/ 96 h 113"/>
                  <a:gd name="T14" fmla="*/ 43 w 133"/>
                  <a:gd name="T15" fmla="*/ 99 h 113"/>
                  <a:gd name="T16" fmla="*/ 43 w 133"/>
                  <a:gd name="T17" fmla="*/ 100 h 113"/>
                  <a:gd name="T18" fmla="*/ 43 w 133"/>
                  <a:gd name="T19" fmla="*/ 100 h 113"/>
                  <a:gd name="T20" fmla="*/ 40 w 133"/>
                  <a:gd name="T21" fmla="*/ 112 h 113"/>
                  <a:gd name="T22" fmla="*/ 53 w 133"/>
                  <a:gd name="T23" fmla="*/ 113 h 113"/>
                  <a:gd name="T24" fmla="*/ 133 w 133"/>
                  <a:gd name="T25" fmla="*/ 71 h 113"/>
                  <a:gd name="T26" fmla="*/ 133 w 133"/>
                  <a:gd name="T27" fmla="*/ 70 h 113"/>
                  <a:gd name="T28" fmla="*/ 133 w 133"/>
                  <a:gd name="T29" fmla="*/ 6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3" h="113">
                    <a:moveTo>
                      <a:pt x="133" y="69"/>
                    </a:moveTo>
                    <a:cubicBezTo>
                      <a:pt x="131" y="38"/>
                      <a:pt x="113" y="12"/>
                      <a:pt x="87" y="0"/>
                    </a:cubicBezTo>
                    <a:cubicBezTo>
                      <a:pt x="53" y="92"/>
                      <a:pt x="53" y="92"/>
                      <a:pt x="53" y="92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3" y="4"/>
                      <a:pt x="6" y="8"/>
                      <a:pt x="0" y="13"/>
                    </a:cubicBezTo>
                    <a:cubicBezTo>
                      <a:pt x="9" y="20"/>
                      <a:pt x="16" y="28"/>
                      <a:pt x="22" y="37"/>
                    </a:cubicBezTo>
                    <a:cubicBezTo>
                      <a:pt x="34" y="55"/>
                      <a:pt x="41" y="75"/>
                      <a:pt x="43" y="96"/>
                    </a:cubicBezTo>
                    <a:cubicBezTo>
                      <a:pt x="43" y="97"/>
                      <a:pt x="43" y="98"/>
                      <a:pt x="43" y="99"/>
                    </a:cubicBezTo>
                    <a:cubicBezTo>
                      <a:pt x="43" y="100"/>
                      <a:pt x="43" y="100"/>
                      <a:pt x="43" y="100"/>
                    </a:cubicBezTo>
                    <a:cubicBezTo>
                      <a:pt x="43" y="100"/>
                      <a:pt x="43" y="100"/>
                      <a:pt x="43" y="100"/>
                    </a:cubicBezTo>
                    <a:cubicBezTo>
                      <a:pt x="43" y="104"/>
                      <a:pt x="41" y="108"/>
                      <a:pt x="40" y="112"/>
                    </a:cubicBezTo>
                    <a:cubicBezTo>
                      <a:pt x="44" y="112"/>
                      <a:pt x="49" y="113"/>
                      <a:pt x="53" y="113"/>
                    </a:cubicBezTo>
                    <a:cubicBezTo>
                      <a:pt x="97" y="112"/>
                      <a:pt x="132" y="90"/>
                      <a:pt x="133" y="71"/>
                    </a:cubicBezTo>
                    <a:cubicBezTo>
                      <a:pt x="133" y="71"/>
                      <a:pt x="133" y="71"/>
                      <a:pt x="133" y="70"/>
                    </a:cubicBezTo>
                    <a:cubicBezTo>
                      <a:pt x="133" y="70"/>
                      <a:pt x="133" y="69"/>
                      <a:pt x="133" y="6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63" name="Freeform 1812"/>
          <p:cNvSpPr/>
          <p:nvPr/>
        </p:nvSpPr>
        <p:spPr>
          <a:xfrm>
            <a:off x="3964899" y="2108909"/>
            <a:ext cx="686184" cy="694853"/>
          </a:xfrm>
          <a:custGeom>
            <a:avLst/>
            <a:gdLst>
              <a:gd name="txL" fmla="*/ 0 w 91"/>
              <a:gd name="txT" fmla="*/ 0 h 92"/>
              <a:gd name="txR" fmla="*/ 91 w 91"/>
              <a:gd name="txB" fmla="*/ 92 h 92"/>
            </a:gdLst>
            <a:ahLst/>
            <a:cxnLst>
              <a:cxn ang="0">
                <a:pos x="463341" y="150743"/>
              </a:cxn>
              <a:cxn ang="0">
                <a:pos x="376464" y="463826"/>
              </a:cxn>
              <a:cxn ang="0">
                <a:pos x="63709" y="382657"/>
              </a:cxn>
              <a:cxn ang="0">
                <a:pos x="150586" y="63776"/>
              </a:cxn>
              <a:cxn ang="0">
                <a:pos x="463341" y="150743"/>
              </a:cxn>
            </a:cxnLst>
            <a:rect l="txL" t="txT" r="txR" b="txB"/>
            <a:pathLst>
              <a:path w="91" h="92">
                <a:moveTo>
                  <a:pt x="80" y="26"/>
                </a:moveTo>
                <a:cubicBezTo>
                  <a:pt x="91" y="45"/>
                  <a:pt x="84" y="69"/>
                  <a:pt x="65" y="80"/>
                </a:cubicBezTo>
                <a:cubicBezTo>
                  <a:pt x="46" y="92"/>
                  <a:pt x="22" y="85"/>
                  <a:pt x="11" y="66"/>
                </a:cubicBezTo>
                <a:cubicBezTo>
                  <a:pt x="0" y="47"/>
                  <a:pt x="6" y="22"/>
                  <a:pt x="26" y="11"/>
                </a:cubicBezTo>
                <a:cubicBezTo>
                  <a:pt x="45" y="0"/>
                  <a:pt x="69" y="7"/>
                  <a:pt x="80" y="26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/>
            </a:solidFill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119756" y="2262190"/>
            <a:ext cx="359138" cy="368901"/>
            <a:chOff x="5572126" y="3962401"/>
            <a:chExt cx="525463" cy="539750"/>
          </a:xfrm>
          <a:solidFill>
            <a:schemeClr val="bg1"/>
          </a:solidFill>
        </p:grpSpPr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5572126" y="4130676"/>
              <a:ext cx="371475" cy="371475"/>
            </a:xfrm>
            <a:custGeom>
              <a:avLst/>
              <a:gdLst>
                <a:gd name="T0" fmla="*/ 258 w 258"/>
                <a:gd name="T1" fmla="*/ 156 h 259"/>
                <a:gd name="T2" fmla="*/ 258 w 258"/>
                <a:gd name="T3" fmla="*/ 104 h 259"/>
                <a:gd name="T4" fmla="*/ 239 w 258"/>
                <a:gd name="T5" fmla="*/ 94 h 259"/>
                <a:gd name="T6" fmla="*/ 232 w 258"/>
                <a:gd name="T7" fmla="*/ 78 h 259"/>
                <a:gd name="T8" fmla="*/ 239 w 258"/>
                <a:gd name="T9" fmla="*/ 57 h 259"/>
                <a:gd name="T10" fmla="*/ 202 w 258"/>
                <a:gd name="T11" fmla="*/ 20 h 259"/>
                <a:gd name="T12" fmla="*/ 180 w 258"/>
                <a:gd name="T13" fmla="*/ 27 h 259"/>
                <a:gd name="T14" fmla="*/ 166 w 258"/>
                <a:gd name="T15" fmla="*/ 21 h 259"/>
                <a:gd name="T16" fmla="*/ 155 w 258"/>
                <a:gd name="T17" fmla="*/ 0 h 259"/>
                <a:gd name="T18" fmla="*/ 103 w 258"/>
                <a:gd name="T19" fmla="*/ 0 h 259"/>
                <a:gd name="T20" fmla="*/ 92 w 258"/>
                <a:gd name="T21" fmla="*/ 21 h 259"/>
                <a:gd name="T22" fmla="*/ 79 w 258"/>
                <a:gd name="T23" fmla="*/ 26 h 259"/>
                <a:gd name="T24" fmla="*/ 56 w 258"/>
                <a:gd name="T25" fmla="*/ 19 h 259"/>
                <a:gd name="T26" fmla="*/ 19 w 258"/>
                <a:gd name="T27" fmla="*/ 56 h 259"/>
                <a:gd name="T28" fmla="*/ 26 w 258"/>
                <a:gd name="T29" fmla="*/ 79 h 259"/>
                <a:gd name="T30" fmla="*/ 21 w 258"/>
                <a:gd name="T31" fmla="*/ 92 h 259"/>
                <a:gd name="T32" fmla="*/ 0 w 258"/>
                <a:gd name="T33" fmla="*/ 103 h 259"/>
                <a:gd name="T34" fmla="*/ 0 w 258"/>
                <a:gd name="T35" fmla="*/ 155 h 259"/>
                <a:gd name="T36" fmla="*/ 20 w 258"/>
                <a:gd name="T37" fmla="*/ 166 h 259"/>
                <a:gd name="T38" fmla="*/ 26 w 258"/>
                <a:gd name="T39" fmla="*/ 180 h 259"/>
                <a:gd name="T40" fmla="*/ 19 w 258"/>
                <a:gd name="T41" fmla="*/ 202 h 259"/>
                <a:gd name="T42" fmla="*/ 56 w 258"/>
                <a:gd name="T43" fmla="*/ 239 h 259"/>
                <a:gd name="T44" fmla="*/ 76 w 258"/>
                <a:gd name="T45" fmla="*/ 233 h 259"/>
                <a:gd name="T46" fmla="*/ 92 w 258"/>
                <a:gd name="T47" fmla="*/ 240 h 259"/>
                <a:gd name="T48" fmla="*/ 102 w 258"/>
                <a:gd name="T49" fmla="*/ 259 h 259"/>
                <a:gd name="T50" fmla="*/ 155 w 258"/>
                <a:gd name="T51" fmla="*/ 259 h 259"/>
                <a:gd name="T52" fmla="*/ 164 w 258"/>
                <a:gd name="T53" fmla="*/ 240 h 259"/>
                <a:gd name="T54" fmla="*/ 181 w 258"/>
                <a:gd name="T55" fmla="*/ 233 h 259"/>
                <a:gd name="T56" fmla="*/ 201 w 258"/>
                <a:gd name="T57" fmla="*/ 240 h 259"/>
                <a:gd name="T58" fmla="*/ 238 w 258"/>
                <a:gd name="T59" fmla="*/ 202 h 259"/>
                <a:gd name="T60" fmla="*/ 232 w 258"/>
                <a:gd name="T61" fmla="*/ 183 h 259"/>
                <a:gd name="T62" fmla="*/ 239 w 258"/>
                <a:gd name="T63" fmla="*/ 166 h 259"/>
                <a:gd name="T64" fmla="*/ 258 w 258"/>
                <a:gd name="T65" fmla="*/ 156 h 259"/>
                <a:gd name="T66" fmla="*/ 187 w 258"/>
                <a:gd name="T67" fmla="*/ 130 h 259"/>
                <a:gd name="T68" fmla="*/ 130 w 258"/>
                <a:gd name="T69" fmla="*/ 188 h 259"/>
                <a:gd name="T70" fmla="*/ 71 w 258"/>
                <a:gd name="T71" fmla="*/ 130 h 259"/>
                <a:gd name="T72" fmla="*/ 130 w 258"/>
                <a:gd name="T73" fmla="*/ 72 h 259"/>
                <a:gd name="T74" fmla="*/ 187 w 258"/>
                <a:gd name="T75" fmla="*/ 13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8" h="259">
                  <a:moveTo>
                    <a:pt x="258" y="156"/>
                  </a:moveTo>
                  <a:cubicBezTo>
                    <a:pt x="258" y="104"/>
                    <a:pt x="258" y="104"/>
                    <a:pt x="258" y="104"/>
                  </a:cubicBezTo>
                  <a:cubicBezTo>
                    <a:pt x="239" y="94"/>
                    <a:pt x="239" y="94"/>
                    <a:pt x="239" y="94"/>
                  </a:cubicBezTo>
                  <a:cubicBezTo>
                    <a:pt x="237" y="88"/>
                    <a:pt x="235" y="83"/>
                    <a:pt x="232" y="78"/>
                  </a:cubicBezTo>
                  <a:cubicBezTo>
                    <a:pt x="239" y="57"/>
                    <a:pt x="239" y="57"/>
                    <a:pt x="239" y="57"/>
                  </a:cubicBezTo>
                  <a:cubicBezTo>
                    <a:pt x="202" y="20"/>
                    <a:pt x="202" y="20"/>
                    <a:pt x="202" y="20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75" y="25"/>
                    <a:pt x="171" y="23"/>
                    <a:pt x="166" y="2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88" y="23"/>
                    <a:pt x="83" y="25"/>
                    <a:pt x="79" y="26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24" y="83"/>
                    <a:pt x="22" y="87"/>
                    <a:pt x="21" y="92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1" y="171"/>
                    <a:pt x="23" y="176"/>
                    <a:pt x="26" y="180"/>
                  </a:cubicBezTo>
                  <a:cubicBezTo>
                    <a:pt x="19" y="202"/>
                    <a:pt x="19" y="202"/>
                    <a:pt x="19" y="202"/>
                  </a:cubicBezTo>
                  <a:cubicBezTo>
                    <a:pt x="56" y="239"/>
                    <a:pt x="56" y="239"/>
                    <a:pt x="56" y="239"/>
                  </a:cubicBezTo>
                  <a:cubicBezTo>
                    <a:pt x="76" y="233"/>
                    <a:pt x="76" y="233"/>
                    <a:pt x="76" y="233"/>
                  </a:cubicBezTo>
                  <a:cubicBezTo>
                    <a:pt x="81" y="235"/>
                    <a:pt x="87" y="238"/>
                    <a:pt x="92" y="240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155" y="259"/>
                    <a:pt x="155" y="259"/>
                    <a:pt x="155" y="259"/>
                  </a:cubicBezTo>
                  <a:cubicBezTo>
                    <a:pt x="164" y="240"/>
                    <a:pt x="164" y="240"/>
                    <a:pt x="164" y="240"/>
                  </a:cubicBezTo>
                  <a:cubicBezTo>
                    <a:pt x="170" y="239"/>
                    <a:pt x="176" y="236"/>
                    <a:pt x="181" y="233"/>
                  </a:cubicBezTo>
                  <a:cubicBezTo>
                    <a:pt x="201" y="240"/>
                    <a:pt x="201" y="240"/>
                    <a:pt x="201" y="240"/>
                  </a:cubicBezTo>
                  <a:cubicBezTo>
                    <a:pt x="238" y="202"/>
                    <a:pt x="238" y="202"/>
                    <a:pt x="238" y="202"/>
                  </a:cubicBezTo>
                  <a:cubicBezTo>
                    <a:pt x="232" y="183"/>
                    <a:pt x="232" y="183"/>
                    <a:pt x="232" y="183"/>
                  </a:cubicBezTo>
                  <a:cubicBezTo>
                    <a:pt x="235" y="177"/>
                    <a:pt x="237" y="172"/>
                    <a:pt x="239" y="166"/>
                  </a:cubicBezTo>
                  <a:lnTo>
                    <a:pt x="258" y="156"/>
                  </a:lnTo>
                  <a:close/>
                  <a:moveTo>
                    <a:pt x="187" y="130"/>
                  </a:moveTo>
                  <a:cubicBezTo>
                    <a:pt x="187" y="162"/>
                    <a:pt x="161" y="188"/>
                    <a:pt x="130" y="188"/>
                  </a:cubicBezTo>
                  <a:cubicBezTo>
                    <a:pt x="97" y="188"/>
                    <a:pt x="71" y="162"/>
                    <a:pt x="71" y="130"/>
                  </a:cubicBezTo>
                  <a:cubicBezTo>
                    <a:pt x="71" y="98"/>
                    <a:pt x="97" y="72"/>
                    <a:pt x="130" y="72"/>
                  </a:cubicBezTo>
                  <a:cubicBezTo>
                    <a:pt x="161" y="72"/>
                    <a:pt x="187" y="98"/>
                    <a:pt x="187" y="13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4" name="Freeform 27"/>
            <p:cNvSpPr>
              <a:spLocks noEditPoints="1"/>
            </p:cNvSpPr>
            <p:nvPr/>
          </p:nvSpPr>
          <p:spPr bwMode="auto">
            <a:xfrm>
              <a:off x="5818189" y="3962401"/>
              <a:ext cx="192088" cy="188913"/>
            </a:xfrm>
            <a:custGeom>
              <a:avLst/>
              <a:gdLst>
                <a:gd name="T0" fmla="*/ 133 w 133"/>
                <a:gd name="T1" fmla="*/ 80 h 132"/>
                <a:gd name="T2" fmla="*/ 133 w 133"/>
                <a:gd name="T3" fmla="*/ 53 h 132"/>
                <a:gd name="T4" fmla="*/ 123 w 133"/>
                <a:gd name="T5" fmla="*/ 48 h 132"/>
                <a:gd name="T6" fmla="*/ 120 w 133"/>
                <a:gd name="T7" fmla="*/ 40 h 132"/>
                <a:gd name="T8" fmla="*/ 123 w 133"/>
                <a:gd name="T9" fmla="*/ 29 h 132"/>
                <a:gd name="T10" fmla="*/ 104 w 133"/>
                <a:gd name="T11" fmla="*/ 9 h 132"/>
                <a:gd name="T12" fmla="*/ 93 w 133"/>
                <a:gd name="T13" fmla="*/ 13 h 132"/>
                <a:gd name="T14" fmla="*/ 86 w 133"/>
                <a:gd name="T15" fmla="*/ 10 h 132"/>
                <a:gd name="T16" fmla="*/ 80 w 133"/>
                <a:gd name="T17" fmla="*/ 0 h 132"/>
                <a:gd name="T18" fmla="*/ 53 w 133"/>
                <a:gd name="T19" fmla="*/ 0 h 132"/>
                <a:gd name="T20" fmla="*/ 48 w 133"/>
                <a:gd name="T21" fmla="*/ 10 h 132"/>
                <a:gd name="T22" fmla="*/ 41 w 133"/>
                <a:gd name="T23" fmla="*/ 13 h 132"/>
                <a:gd name="T24" fmla="*/ 29 w 133"/>
                <a:gd name="T25" fmla="*/ 9 h 132"/>
                <a:gd name="T26" fmla="*/ 10 w 133"/>
                <a:gd name="T27" fmla="*/ 28 h 132"/>
                <a:gd name="T28" fmla="*/ 14 w 133"/>
                <a:gd name="T29" fmla="*/ 40 h 132"/>
                <a:gd name="T30" fmla="*/ 11 w 133"/>
                <a:gd name="T31" fmla="*/ 47 h 132"/>
                <a:gd name="T32" fmla="*/ 0 w 133"/>
                <a:gd name="T33" fmla="*/ 52 h 132"/>
                <a:gd name="T34" fmla="*/ 0 w 133"/>
                <a:gd name="T35" fmla="*/ 79 h 132"/>
                <a:gd name="T36" fmla="*/ 11 w 133"/>
                <a:gd name="T37" fmla="*/ 85 h 132"/>
                <a:gd name="T38" fmla="*/ 13 w 133"/>
                <a:gd name="T39" fmla="*/ 92 h 132"/>
                <a:gd name="T40" fmla="*/ 10 w 133"/>
                <a:gd name="T41" fmla="*/ 103 h 132"/>
                <a:gd name="T42" fmla="*/ 29 w 133"/>
                <a:gd name="T43" fmla="*/ 122 h 132"/>
                <a:gd name="T44" fmla="*/ 39 w 133"/>
                <a:gd name="T45" fmla="*/ 119 h 132"/>
                <a:gd name="T46" fmla="*/ 48 w 133"/>
                <a:gd name="T47" fmla="*/ 122 h 132"/>
                <a:gd name="T48" fmla="*/ 53 w 133"/>
                <a:gd name="T49" fmla="*/ 132 h 132"/>
                <a:gd name="T50" fmla="*/ 80 w 133"/>
                <a:gd name="T51" fmla="*/ 132 h 132"/>
                <a:gd name="T52" fmla="*/ 85 w 133"/>
                <a:gd name="T53" fmla="*/ 123 h 132"/>
                <a:gd name="T54" fmla="*/ 94 w 133"/>
                <a:gd name="T55" fmla="*/ 119 h 132"/>
                <a:gd name="T56" fmla="*/ 104 w 133"/>
                <a:gd name="T57" fmla="*/ 122 h 132"/>
                <a:gd name="T58" fmla="*/ 123 w 133"/>
                <a:gd name="T59" fmla="*/ 103 h 132"/>
                <a:gd name="T60" fmla="*/ 120 w 133"/>
                <a:gd name="T61" fmla="*/ 93 h 132"/>
                <a:gd name="T62" fmla="*/ 123 w 133"/>
                <a:gd name="T63" fmla="*/ 85 h 132"/>
                <a:gd name="T64" fmla="*/ 133 w 133"/>
                <a:gd name="T65" fmla="*/ 80 h 132"/>
                <a:gd name="T66" fmla="*/ 97 w 133"/>
                <a:gd name="T67" fmla="*/ 66 h 132"/>
                <a:gd name="T68" fmla="*/ 67 w 133"/>
                <a:gd name="T69" fmla="*/ 96 h 132"/>
                <a:gd name="T70" fmla="*/ 37 w 133"/>
                <a:gd name="T71" fmla="*/ 66 h 132"/>
                <a:gd name="T72" fmla="*/ 67 w 133"/>
                <a:gd name="T73" fmla="*/ 37 h 132"/>
                <a:gd name="T74" fmla="*/ 97 w 133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3" h="132">
                  <a:moveTo>
                    <a:pt x="133" y="80"/>
                  </a:moveTo>
                  <a:cubicBezTo>
                    <a:pt x="133" y="53"/>
                    <a:pt x="133" y="53"/>
                    <a:pt x="133" y="53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5"/>
                    <a:pt x="121" y="42"/>
                    <a:pt x="120" y="40"/>
                  </a:cubicBezTo>
                  <a:cubicBezTo>
                    <a:pt x="123" y="29"/>
                    <a:pt x="123" y="29"/>
                    <a:pt x="123" y="2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1" y="12"/>
                    <a:pt x="88" y="11"/>
                    <a:pt x="86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6" y="11"/>
                    <a:pt x="43" y="12"/>
                    <a:pt x="41" y="13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3" y="42"/>
                    <a:pt x="12" y="44"/>
                    <a:pt x="11" y="47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1" y="87"/>
                    <a:pt x="12" y="90"/>
                    <a:pt x="13" y="92"/>
                  </a:cubicBezTo>
                  <a:cubicBezTo>
                    <a:pt x="10" y="103"/>
                    <a:pt x="10" y="103"/>
                    <a:pt x="10" y="103"/>
                  </a:cubicBezTo>
                  <a:cubicBezTo>
                    <a:pt x="29" y="122"/>
                    <a:pt x="29" y="122"/>
                    <a:pt x="29" y="122"/>
                  </a:cubicBezTo>
                  <a:cubicBezTo>
                    <a:pt x="39" y="119"/>
                    <a:pt x="39" y="119"/>
                    <a:pt x="39" y="119"/>
                  </a:cubicBezTo>
                  <a:cubicBezTo>
                    <a:pt x="42" y="120"/>
                    <a:pt x="45" y="122"/>
                    <a:pt x="48" y="122"/>
                  </a:cubicBezTo>
                  <a:cubicBezTo>
                    <a:pt x="53" y="132"/>
                    <a:pt x="53" y="132"/>
                    <a:pt x="53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88" y="122"/>
                    <a:pt x="91" y="121"/>
                    <a:pt x="94" y="119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23" y="103"/>
                    <a:pt x="123" y="103"/>
                    <a:pt x="123" y="103"/>
                  </a:cubicBezTo>
                  <a:cubicBezTo>
                    <a:pt x="120" y="93"/>
                    <a:pt x="120" y="93"/>
                    <a:pt x="120" y="93"/>
                  </a:cubicBezTo>
                  <a:cubicBezTo>
                    <a:pt x="121" y="90"/>
                    <a:pt x="122" y="88"/>
                    <a:pt x="123" y="85"/>
                  </a:cubicBezTo>
                  <a:lnTo>
                    <a:pt x="133" y="80"/>
                  </a:lnTo>
                  <a:close/>
                  <a:moveTo>
                    <a:pt x="97" y="66"/>
                  </a:moveTo>
                  <a:cubicBezTo>
                    <a:pt x="97" y="83"/>
                    <a:pt x="83" y="96"/>
                    <a:pt x="67" y="96"/>
                  </a:cubicBezTo>
                  <a:cubicBezTo>
                    <a:pt x="50" y="96"/>
                    <a:pt x="37" y="83"/>
                    <a:pt x="37" y="66"/>
                  </a:cubicBezTo>
                  <a:cubicBezTo>
                    <a:pt x="37" y="50"/>
                    <a:pt x="50" y="37"/>
                    <a:pt x="67" y="37"/>
                  </a:cubicBezTo>
                  <a:cubicBezTo>
                    <a:pt x="83" y="37"/>
                    <a:pt x="97" y="50"/>
                    <a:pt x="97" y="6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5942014" y="4138613"/>
              <a:ext cx="155575" cy="155575"/>
            </a:xfrm>
            <a:custGeom>
              <a:avLst/>
              <a:gdLst>
                <a:gd name="T0" fmla="*/ 108 w 108"/>
                <a:gd name="T1" fmla="*/ 65 h 108"/>
                <a:gd name="T2" fmla="*/ 108 w 108"/>
                <a:gd name="T3" fmla="*/ 43 h 108"/>
                <a:gd name="T4" fmla="*/ 100 w 108"/>
                <a:gd name="T5" fmla="*/ 39 h 108"/>
                <a:gd name="T6" fmla="*/ 97 w 108"/>
                <a:gd name="T7" fmla="*/ 33 h 108"/>
                <a:gd name="T8" fmla="*/ 100 w 108"/>
                <a:gd name="T9" fmla="*/ 24 h 108"/>
                <a:gd name="T10" fmla="*/ 84 w 108"/>
                <a:gd name="T11" fmla="*/ 8 h 108"/>
                <a:gd name="T12" fmla="*/ 75 w 108"/>
                <a:gd name="T13" fmla="*/ 11 h 108"/>
                <a:gd name="T14" fmla="*/ 70 w 108"/>
                <a:gd name="T15" fmla="*/ 9 h 108"/>
                <a:gd name="T16" fmla="*/ 65 w 108"/>
                <a:gd name="T17" fmla="*/ 0 h 108"/>
                <a:gd name="T18" fmla="*/ 43 w 108"/>
                <a:gd name="T19" fmla="*/ 0 h 108"/>
                <a:gd name="T20" fmla="*/ 39 w 108"/>
                <a:gd name="T21" fmla="*/ 9 h 108"/>
                <a:gd name="T22" fmla="*/ 33 w 108"/>
                <a:gd name="T23" fmla="*/ 11 h 108"/>
                <a:gd name="T24" fmla="*/ 24 w 108"/>
                <a:gd name="T25" fmla="*/ 8 h 108"/>
                <a:gd name="T26" fmla="*/ 8 w 108"/>
                <a:gd name="T27" fmla="*/ 24 h 108"/>
                <a:gd name="T28" fmla="*/ 11 w 108"/>
                <a:gd name="T29" fmla="*/ 33 h 108"/>
                <a:gd name="T30" fmla="*/ 9 w 108"/>
                <a:gd name="T31" fmla="*/ 39 h 108"/>
                <a:gd name="T32" fmla="*/ 0 w 108"/>
                <a:gd name="T33" fmla="*/ 43 h 108"/>
                <a:gd name="T34" fmla="*/ 0 w 108"/>
                <a:gd name="T35" fmla="*/ 65 h 108"/>
                <a:gd name="T36" fmla="*/ 8 w 108"/>
                <a:gd name="T37" fmla="*/ 69 h 108"/>
                <a:gd name="T38" fmla="*/ 11 w 108"/>
                <a:gd name="T39" fmla="*/ 76 h 108"/>
                <a:gd name="T40" fmla="*/ 8 w 108"/>
                <a:gd name="T41" fmla="*/ 84 h 108"/>
                <a:gd name="T42" fmla="*/ 23 w 108"/>
                <a:gd name="T43" fmla="*/ 100 h 108"/>
                <a:gd name="T44" fmla="*/ 32 w 108"/>
                <a:gd name="T45" fmla="*/ 97 h 108"/>
                <a:gd name="T46" fmla="*/ 39 w 108"/>
                <a:gd name="T47" fmla="*/ 100 h 108"/>
                <a:gd name="T48" fmla="*/ 43 w 108"/>
                <a:gd name="T49" fmla="*/ 108 h 108"/>
                <a:gd name="T50" fmla="*/ 65 w 108"/>
                <a:gd name="T51" fmla="*/ 108 h 108"/>
                <a:gd name="T52" fmla="*/ 69 w 108"/>
                <a:gd name="T53" fmla="*/ 100 h 108"/>
                <a:gd name="T54" fmla="*/ 76 w 108"/>
                <a:gd name="T55" fmla="*/ 98 h 108"/>
                <a:gd name="T56" fmla="*/ 84 w 108"/>
                <a:gd name="T57" fmla="*/ 100 h 108"/>
                <a:gd name="T58" fmla="*/ 100 w 108"/>
                <a:gd name="T59" fmla="*/ 85 h 108"/>
                <a:gd name="T60" fmla="*/ 97 w 108"/>
                <a:gd name="T61" fmla="*/ 76 h 108"/>
                <a:gd name="T62" fmla="*/ 100 w 108"/>
                <a:gd name="T63" fmla="*/ 69 h 108"/>
                <a:gd name="T64" fmla="*/ 108 w 108"/>
                <a:gd name="T65" fmla="*/ 65 h 108"/>
                <a:gd name="T66" fmla="*/ 78 w 108"/>
                <a:gd name="T67" fmla="*/ 54 h 108"/>
                <a:gd name="T68" fmla="*/ 54 w 108"/>
                <a:gd name="T69" fmla="*/ 79 h 108"/>
                <a:gd name="T70" fmla="*/ 30 w 108"/>
                <a:gd name="T71" fmla="*/ 54 h 108"/>
                <a:gd name="T72" fmla="*/ 54 w 108"/>
                <a:gd name="T73" fmla="*/ 30 h 108"/>
                <a:gd name="T74" fmla="*/ 78 w 108"/>
                <a:gd name="T75" fmla="*/ 5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08">
                  <a:moveTo>
                    <a:pt x="108" y="65"/>
                  </a:moveTo>
                  <a:cubicBezTo>
                    <a:pt x="108" y="43"/>
                    <a:pt x="108" y="43"/>
                    <a:pt x="108" y="43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99" y="37"/>
                    <a:pt x="98" y="35"/>
                    <a:pt x="97" y="33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10"/>
                    <a:pt x="72" y="10"/>
                    <a:pt x="70" y="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7" y="10"/>
                    <a:pt x="35" y="10"/>
                    <a:pt x="33" y="1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0" y="35"/>
                    <a:pt x="9" y="37"/>
                    <a:pt x="9" y="39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9" y="71"/>
                    <a:pt x="10" y="73"/>
                    <a:pt x="11" y="76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4" y="98"/>
                    <a:pt x="36" y="99"/>
                    <a:pt x="39" y="100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65" y="108"/>
                    <a:pt x="65" y="108"/>
                    <a:pt x="65" y="108"/>
                  </a:cubicBezTo>
                  <a:cubicBezTo>
                    <a:pt x="69" y="100"/>
                    <a:pt x="69" y="100"/>
                    <a:pt x="69" y="100"/>
                  </a:cubicBezTo>
                  <a:cubicBezTo>
                    <a:pt x="71" y="100"/>
                    <a:pt x="74" y="99"/>
                    <a:pt x="76" y="98"/>
                  </a:cubicBezTo>
                  <a:cubicBezTo>
                    <a:pt x="84" y="100"/>
                    <a:pt x="84" y="100"/>
                    <a:pt x="84" y="100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97" y="76"/>
                    <a:pt x="97" y="76"/>
                    <a:pt x="97" y="76"/>
                  </a:cubicBezTo>
                  <a:cubicBezTo>
                    <a:pt x="98" y="74"/>
                    <a:pt x="99" y="72"/>
                    <a:pt x="100" y="69"/>
                  </a:cubicBezTo>
                  <a:lnTo>
                    <a:pt x="108" y="65"/>
                  </a:lnTo>
                  <a:close/>
                  <a:moveTo>
                    <a:pt x="78" y="54"/>
                  </a:moveTo>
                  <a:cubicBezTo>
                    <a:pt x="78" y="68"/>
                    <a:pt x="68" y="79"/>
                    <a:pt x="54" y="79"/>
                  </a:cubicBezTo>
                  <a:cubicBezTo>
                    <a:pt x="41" y="79"/>
                    <a:pt x="30" y="68"/>
                    <a:pt x="30" y="54"/>
                  </a:cubicBezTo>
                  <a:cubicBezTo>
                    <a:pt x="30" y="41"/>
                    <a:pt x="41" y="30"/>
                    <a:pt x="54" y="30"/>
                  </a:cubicBezTo>
                  <a:cubicBezTo>
                    <a:pt x="68" y="30"/>
                    <a:pt x="78" y="41"/>
                    <a:pt x="78" y="5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6" name="文本框 85"/>
          <p:cNvSpPr txBox="1"/>
          <p:nvPr/>
        </p:nvSpPr>
        <p:spPr>
          <a:xfrm>
            <a:off x="744599" y="2416599"/>
            <a:ext cx="3200948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模块化结构具有很好的</a:t>
            </a:r>
            <a:r>
              <a:rPr lang="zh-CN" altLang="en-US" sz="1050" b="1" dirty="0"/>
              <a:t>灵活性</a:t>
            </a:r>
            <a:r>
              <a:rPr lang="zh-CN" altLang="en-US" sz="1050" dirty="0"/>
              <a:t>和可</a:t>
            </a:r>
            <a:r>
              <a:rPr lang="zh-CN" altLang="en-US" sz="1050" b="1" dirty="0"/>
              <a:t>拓展性</a:t>
            </a:r>
            <a:r>
              <a:rPr lang="zh-CN" altLang="en-US" sz="1050" dirty="0"/>
              <a:t>，目前的研究尚未出现针对某一特定气象灾害的单独探测方案，利用模块化的优势，统一连接模式，优化地面端软件模块化交互，设计针对多种气象灾害的多套传感器方案，达到</a:t>
            </a:r>
            <a:r>
              <a:rPr lang="en-US" altLang="zh-CN" sz="1050" b="1" dirty="0"/>
              <a:t>“</a:t>
            </a:r>
            <a:r>
              <a:rPr lang="zh-CN" altLang="en-US" sz="1050" b="1" dirty="0">
                <a:sym typeface="+mn-ea"/>
              </a:rPr>
              <a:t>一箭多用，形散神聚</a:t>
            </a:r>
            <a:r>
              <a:rPr lang="en-US" altLang="zh-CN" sz="1050" b="1" dirty="0"/>
              <a:t>”</a:t>
            </a:r>
            <a:r>
              <a:rPr lang="zh-CN" altLang="en-US" sz="1050" dirty="0"/>
              <a:t>的目的</a:t>
            </a:r>
          </a:p>
        </p:txBody>
      </p:sp>
      <p:sp>
        <p:nvSpPr>
          <p:cNvPr id="67" name="TextBox 1956"/>
          <p:cNvSpPr/>
          <p:nvPr/>
        </p:nvSpPr>
        <p:spPr>
          <a:xfrm>
            <a:off x="923925" y="2179000"/>
            <a:ext cx="2958873" cy="2832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 algn="r">
              <a:lnSpc>
                <a:spcPts val="1500"/>
              </a:lnSpc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多种气象灾害探测的思考与发现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15"/>
          <p:cNvSpPr txBox="1"/>
          <p:nvPr/>
        </p:nvSpPr>
        <p:spPr>
          <a:xfrm>
            <a:off x="447462" y="282863"/>
            <a:ext cx="226171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研究内容及目录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椭圆 10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1"/>
          <p:cNvSpPr txBox="1"/>
          <p:nvPr/>
        </p:nvSpPr>
        <p:spPr>
          <a:xfrm>
            <a:off x="2294397" y="2717376"/>
            <a:ext cx="4555207" cy="5911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创新要点综述</a:t>
            </a:r>
          </a:p>
        </p:txBody>
      </p:sp>
      <p:sp>
        <p:nvSpPr>
          <p:cNvPr id="10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/>
      <p:bldP spid="1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17328" y="296524"/>
            <a:ext cx="2261711" cy="3454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姿态数据实时反馈</a:t>
            </a:r>
          </a:p>
        </p:txBody>
      </p:sp>
      <p:pic>
        <p:nvPicPr>
          <p:cNvPr id="4" name="WeChat_2023082104000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835" y="672465"/>
            <a:ext cx="7466330" cy="4196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16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椭圆 27"/>
          <p:cNvSpPr/>
          <p:nvPr/>
        </p:nvSpPr>
        <p:spPr>
          <a:xfrm>
            <a:off x="1981407" y="3464345"/>
            <a:ext cx="507683" cy="50768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055706" y="3548084"/>
            <a:ext cx="313686" cy="295881"/>
            <a:chOff x="244475" y="2743200"/>
            <a:chExt cx="727075" cy="685800"/>
          </a:xfrm>
          <a:solidFill>
            <a:schemeClr val="bg1"/>
          </a:solidFill>
        </p:grpSpPr>
        <p:sp>
          <p:nvSpPr>
            <p:cNvPr id="30" name="Freeform 15"/>
            <p:cNvSpPr>
              <a:spLocks noEditPoints="1"/>
            </p:cNvSpPr>
            <p:nvPr/>
          </p:nvSpPr>
          <p:spPr bwMode="auto">
            <a:xfrm>
              <a:off x="244475" y="3013075"/>
              <a:ext cx="204788" cy="415925"/>
            </a:xfrm>
            <a:custGeom>
              <a:avLst/>
              <a:gdLst>
                <a:gd name="T0" fmla="*/ 41 w 54"/>
                <a:gd name="T1" fmla="*/ 13 h 109"/>
                <a:gd name="T2" fmla="*/ 41 w 54"/>
                <a:gd name="T3" fmla="*/ 47 h 109"/>
                <a:gd name="T4" fmla="*/ 13 w 54"/>
                <a:gd name="T5" fmla="*/ 47 h 109"/>
                <a:gd name="T6" fmla="*/ 13 w 54"/>
                <a:gd name="T7" fmla="*/ 13 h 109"/>
                <a:gd name="T8" fmla="*/ 41 w 54"/>
                <a:gd name="T9" fmla="*/ 13 h 109"/>
                <a:gd name="T10" fmla="*/ 50 w 54"/>
                <a:gd name="T11" fmla="*/ 0 h 109"/>
                <a:gd name="T12" fmla="*/ 4 w 54"/>
                <a:gd name="T13" fmla="*/ 0 h 109"/>
                <a:gd name="T14" fmla="*/ 0 w 54"/>
                <a:gd name="T15" fmla="*/ 5 h 109"/>
                <a:gd name="T16" fmla="*/ 0 w 54"/>
                <a:gd name="T17" fmla="*/ 105 h 109"/>
                <a:gd name="T18" fmla="*/ 4 w 54"/>
                <a:gd name="T19" fmla="*/ 109 h 109"/>
                <a:gd name="T20" fmla="*/ 50 w 54"/>
                <a:gd name="T21" fmla="*/ 109 h 109"/>
                <a:gd name="T22" fmla="*/ 54 w 54"/>
                <a:gd name="T23" fmla="*/ 105 h 109"/>
                <a:gd name="T24" fmla="*/ 54 w 54"/>
                <a:gd name="T25" fmla="*/ 5 h 109"/>
                <a:gd name="T26" fmla="*/ 50 w 54"/>
                <a:gd name="T27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109">
                  <a:moveTo>
                    <a:pt x="41" y="13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1" y="13"/>
                    <a:pt x="41" y="13"/>
                    <a:pt x="41" y="13"/>
                  </a:cubicBezTo>
                  <a:moveTo>
                    <a:pt x="5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7"/>
                    <a:pt x="2" y="109"/>
                    <a:pt x="4" y="109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52" y="109"/>
                    <a:pt x="54" y="107"/>
                    <a:pt x="54" y="10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2"/>
                    <a:pt x="52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Freeform 16"/>
            <p:cNvSpPr>
              <a:spLocks noEditPoints="1"/>
            </p:cNvSpPr>
            <p:nvPr/>
          </p:nvSpPr>
          <p:spPr bwMode="auto">
            <a:xfrm>
              <a:off x="500063" y="2914650"/>
              <a:ext cx="207963" cy="514350"/>
            </a:xfrm>
            <a:custGeom>
              <a:avLst/>
              <a:gdLst>
                <a:gd name="T0" fmla="*/ 42 w 55"/>
                <a:gd name="T1" fmla="*/ 13 h 135"/>
                <a:gd name="T2" fmla="*/ 42 w 55"/>
                <a:gd name="T3" fmla="*/ 81 h 135"/>
                <a:gd name="T4" fmla="*/ 13 w 55"/>
                <a:gd name="T5" fmla="*/ 81 h 135"/>
                <a:gd name="T6" fmla="*/ 13 w 55"/>
                <a:gd name="T7" fmla="*/ 13 h 135"/>
                <a:gd name="T8" fmla="*/ 42 w 55"/>
                <a:gd name="T9" fmla="*/ 13 h 135"/>
                <a:gd name="T10" fmla="*/ 51 w 55"/>
                <a:gd name="T11" fmla="*/ 0 h 135"/>
                <a:gd name="T12" fmla="*/ 5 w 55"/>
                <a:gd name="T13" fmla="*/ 0 h 135"/>
                <a:gd name="T14" fmla="*/ 0 w 55"/>
                <a:gd name="T15" fmla="*/ 5 h 135"/>
                <a:gd name="T16" fmla="*/ 0 w 55"/>
                <a:gd name="T17" fmla="*/ 131 h 135"/>
                <a:gd name="T18" fmla="*/ 5 w 55"/>
                <a:gd name="T19" fmla="*/ 135 h 135"/>
                <a:gd name="T20" fmla="*/ 51 w 55"/>
                <a:gd name="T21" fmla="*/ 135 h 135"/>
                <a:gd name="T22" fmla="*/ 55 w 55"/>
                <a:gd name="T23" fmla="*/ 131 h 135"/>
                <a:gd name="T24" fmla="*/ 55 w 55"/>
                <a:gd name="T25" fmla="*/ 5 h 135"/>
                <a:gd name="T26" fmla="*/ 51 w 55"/>
                <a:gd name="T2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" h="135">
                  <a:moveTo>
                    <a:pt x="42" y="13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2" y="13"/>
                    <a:pt x="42" y="13"/>
                    <a:pt x="42" y="13"/>
                  </a:cubicBezTo>
                  <a:moveTo>
                    <a:pt x="5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3"/>
                    <a:pt x="2" y="135"/>
                    <a:pt x="5" y="135"/>
                  </a:cubicBezTo>
                  <a:cubicBezTo>
                    <a:pt x="51" y="135"/>
                    <a:pt x="51" y="135"/>
                    <a:pt x="51" y="135"/>
                  </a:cubicBezTo>
                  <a:cubicBezTo>
                    <a:pt x="53" y="135"/>
                    <a:pt x="55" y="133"/>
                    <a:pt x="55" y="13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2"/>
                    <a:pt x="53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Freeform 17"/>
            <p:cNvSpPr>
              <a:spLocks noEditPoints="1"/>
            </p:cNvSpPr>
            <p:nvPr/>
          </p:nvSpPr>
          <p:spPr bwMode="auto">
            <a:xfrm>
              <a:off x="762000" y="2743200"/>
              <a:ext cx="209550" cy="685800"/>
            </a:xfrm>
            <a:custGeom>
              <a:avLst/>
              <a:gdLst>
                <a:gd name="T0" fmla="*/ 42 w 55"/>
                <a:gd name="T1" fmla="*/ 13 h 180"/>
                <a:gd name="T2" fmla="*/ 42 w 55"/>
                <a:gd name="T3" fmla="*/ 96 h 180"/>
                <a:gd name="T4" fmla="*/ 13 w 55"/>
                <a:gd name="T5" fmla="*/ 96 h 180"/>
                <a:gd name="T6" fmla="*/ 13 w 55"/>
                <a:gd name="T7" fmla="*/ 13 h 180"/>
                <a:gd name="T8" fmla="*/ 42 w 55"/>
                <a:gd name="T9" fmla="*/ 13 h 180"/>
                <a:gd name="T10" fmla="*/ 50 w 55"/>
                <a:gd name="T11" fmla="*/ 0 h 180"/>
                <a:gd name="T12" fmla="*/ 4 w 55"/>
                <a:gd name="T13" fmla="*/ 0 h 180"/>
                <a:gd name="T14" fmla="*/ 0 w 55"/>
                <a:gd name="T15" fmla="*/ 4 h 180"/>
                <a:gd name="T16" fmla="*/ 0 w 55"/>
                <a:gd name="T17" fmla="*/ 176 h 180"/>
                <a:gd name="T18" fmla="*/ 4 w 55"/>
                <a:gd name="T19" fmla="*/ 180 h 180"/>
                <a:gd name="T20" fmla="*/ 50 w 55"/>
                <a:gd name="T21" fmla="*/ 180 h 180"/>
                <a:gd name="T22" fmla="*/ 55 w 55"/>
                <a:gd name="T23" fmla="*/ 176 h 180"/>
                <a:gd name="T24" fmla="*/ 55 w 55"/>
                <a:gd name="T25" fmla="*/ 4 h 180"/>
                <a:gd name="T26" fmla="*/ 50 w 55"/>
                <a:gd name="T27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" h="180">
                  <a:moveTo>
                    <a:pt x="42" y="13"/>
                  </a:moveTo>
                  <a:cubicBezTo>
                    <a:pt x="42" y="96"/>
                    <a:pt x="42" y="96"/>
                    <a:pt x="42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42" y="13"/>
                    <a:pt x="42" y="13"/>
                    <a:pt x="42" y="13"/>
                  </a:cubicBezTo>
                  <a:moveTo>
                    <a:pt x="5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8"/>
                    <a:pt x="2" y="180"/>
                    <a:pt x="4" y="180"/>
                  </a:cubicBezTo>
                  <a:cubicBezTo>
                    <a:pt x="50" y="180"/>
                    <a:pt x="50" y="180"/>
                    <a:pt x="50" y="180"/>
                  </a:cubicBezTo>
                  <a:cubicBezTo>
                    <a:pt x="53" y="180"/>
                    <a:pt x="55" y="178"/>
                    <a:pt x="55" y="176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5" y="2"/>
                    <a:pt x="53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椭圆 20"/>
          <p:cNvSpPr/>
          <p:nvPr/>
        </p:nvSpPr>
        <p:spPr>
          <a:xfrm>
            <a:off x="2000457" y="2429273"/>
            <a:ext cx="507683" cy="50768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118932" y="2502882"/>
            <a:ext cx="270898" cy="322579"/>
            <a:chOff x="10787673" y="2508217"/>
            <a:chExt cx="478426" cy="569698"/>
          </a:xfrm>
          <a:solidFill>
            <a:schemeClr val="bg1"/>
          </a:solidFill>
        </p:grpSpPr>
        <p:sp>
          <p:nvSpPr>
            <p:cNvPr id="23" name="Freeform 25"/>
            <p:cNvSpPr>
              <a:spLocks noEditPoints="1"/>
            </p:cNvSpPr>
            <p:nvPr/>
          </p:nvSpPr>
          <p:spPr bwMode="auto">
            <a:xfrm>
              <a:off x="10787673" y="2508217"/>
              <a:ext cx="478426" cy="569698"/>
            </a:xfrm>
            <a:custGeom>
              <a:avLst/>
              <a:gdLst>
                <a:gd name="T0" fmla="*/ 145 w 156"/>
                <a:gd name="T1" fmla="*/ 22 h 178"/>
                <a:gd name="T2" fmla="*/ 134 w 156"/>
                <a:gd name="T3" fmla="*/ 22 h 178"/>
                <a:gd name="T4" fmla="*/ 134 w 156"/>
                <a:gd name="T5" fmla="*/ 11 h 178"/>
                <a:gd name="T6" fmla="*/ 123 w 156"/>
                <a:gd name="T7" fmla="*/ 0 h 178"/>
                <a:gd name="T8" fmla="*/ 11 w 156"/>
                <a:gd name="T9" fmla="*/ 0 h 178"/>
                <a:gd name="T10" fmla="*/ 0 w 156"/>
                <a:gd name="T11" fmla="*/ 11 h 178"/>
                <a:gd name="T12" fmla="*/ 0 w 156"/>
                <a:gd name="T13" fmla="*/ 145 h 178"/>
                <a:gd name="T14" fmla="*/ 11 w 156"/>
                <a:gd name="T15" fmla="*/ 156 h 178"/>
                <a:gd name="T16" fmla="*/ 22 w 156"/>
                <a:gd name="T17" fmla="*/ 156 h 178"/>
                <a:gd name="T18" fmla="*/ 22 w 156"/>
                <a:gd name="T19" fmla="*/ 167 h 178"/>
                <a:gd name="T20" fmla="*/ 33 w 156"/>
                <a:gd name="T21" fmla="*/ 178 h 178"/>
                <a:gd name="T22" fmla="*/ 145 w 156"/>
                <a:gd name="T23" fmla="*/ 178 h 178"/>
                <a:gd name="T24" fmla="*/ 156 w 156"/>
                <a:gd name="T25" fmla="*/ 167 h 178"/>
                <a:gd name="T26" fmla="*/ 156 w 156"/>
                <a:gd name="T27" fmla="*/ 33 h 178"/>
                <a:gd name="T28" fmla="*/ 145 w 156"/>
                <a:gd name="T29" fmla="*/ 22 h 178"/>
                <a:gd name="T30" fmla="*/ 11 w 156"/>
                <a:gd name="T31" fmla="*/ 145 h 178"/>
                <a:gd name="T32" fmla="*/ 11 w 156"/>
                <a:gd name="T33" fmla="*/ 11 h 178"/>
                <a:gd name="T34" fmla="*/ 123 w 156"/>
                <a:gd name="T35" fmla="*/ 11 h 178"/>
                <a:gd name="T36" fmla="*/ 123 w 156"/>
                <a:gd name="T37" fmla="*/ 145 h 178"/>
                <a:gd name="T38" fmla="*/ 11 w 156"/>
                <a:gd name="T39" fmla="*/ 145 h 178"/>
                <a:gd name="T40" fmla="*/ 145 w 156"/>
                <a:gd name="T41" fmla="*/ 167 h 178"/>
                <a:gd name="T42" fmla="*/ 33 w 156"/>
                <a:gd name="T43" fmla="*/ 167 h 178"/>
                <a:gd name="T44" fmla="*/ 33 w 156"/>
                <a:gd name="T45" fmla="*/ 156 h 178"/>
                <a:gd name="T46" fmla="*/ 123 w 156"/>
                <a:gd name="T47" fmla="*/ 156 h 178"/>
                <a:gd name="T48" fmla="*/ 134 w 156"/>
                <a:gd name="T49" fmla="*/ 145 h 178"/>
                <a:gd name="T50" fmla="*/ 134 w 156"/>
                <a:gd name="T51" fmla="*/ 33 h 178"/>
                <a:gd name="T52" fmla="*/ 145 w 156"/>
                <a:gd name="T53" fmla="*/ 33 h 178"/>
                <a:gd name="T54" fmla="*/ 145 w 156"/>
                <a:gd name="T55" fmla="*/ 1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6" h="178">
                  <a:moveTo>
                    <a:pt x="145" y="22"/>
                  </a:moveTo>
                  <a:cubicBezTo>
                    <a:pt x="134" y="22"/>
                    <a:pt x="134" y="22"/>
                    <a:pt x="134" y="2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5"/>
                    <a:pt x="129" y="0"/>
                    <a:pt x="12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1"/>
                    <a:pt x="5" y="156"/>
                    <a:pt x="11" y="156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22" y="173"/>
                    <a:pt x="27" y="178"/>
                    <a:pt x="33" y="178"/>
                  </a:cubicBezTo>
                  <a:cubicBezTo>
                    <a:pt x="145" y="178"/>
                    <a:pt x="145" y="178"/>
                    <a:pt x="145" y="178"/>
                  </a:cubicBezTo>
                  <a:cubicBezTo>
                    <a:pt x="151" y="178"/>
                    <a:pt x="156" y="173"/>
                    <a:pt x="156" y="167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7"/>
                    <a:pt x="151" y="22"/>
                    <a:pt x="145" y="22"/>
                  </a:cubicBezTo>
                  <a:close/>
                  <a:moveTo>
                    <a:pt x="11" y="145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45"/>
                    <a:pt x="123" y="145"/>
                    <a:pt x="123" y="145"/>
                  </a:cubicBezTo>
                  <a:lnTo>
                    <a:pt x="11" y="145"/>
                  </a:lnTo>
                  <a:close/>
                  <a:moveTo>
                    <a:pt x="145" y="167"/>
                  </a:moveTo>
                  <a:cubicBezTo>
                    <a:pt x="33" y="167"/>
                    <a:pt x="33" y="167"/>
                    <a:pt x="33" y="167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9" y="156"/>
                    <a:pt x="134" y="151"/>
                    <a:pt x="134" y="145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45" y="33"/>
                    <a:pt x="145" y="33"/>
                    <a:pt x="145" y="33"/>
                  </a:cubicBezTo>
                  <a:lnTo>
                    <a:pt x="145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0925460" y="2614454"/>
              <a:ext cx="205404" cy="34527"/>
            </a:xfrm>
            <a:custGeom>
              <a:avLst/>
              <a:gdLst>
                <a:gd name="T0" fmla="*/ 61 w 67"/>
                <a:gd name="T1" fmla="*/ 0 h 11"/>
                <a:gd name="T2" fmla="*/ 5 w 67"/>
                <a:gd name="T3" fmla="*/ 0 h 11"/>
                <a:gd name="T4" fmla="*/ 0 w 67"/>
                <a:gd name="T5" fmla="*/ 6 h 11"/>
                <a:gd name="T6" fmla="*/ 5 w 67"/>
                <a:gd name="T7" fmla="*/ 11 h 11"/>
                <a:gd name="T8" fmla="*/ 61 w 67"/>
                <a:gd name="T9" fmla="*/ 11 h 11"/>
                <a:gd name="T10" fmla="*/ 67 w 67"/>
                <a:gd name="T11" fmla="*/ 6 h 11"/>
                <a:gd name="T12" fmla="*/ 61 w 6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11">
                  <a:moveTo>
                    <a:pt x="6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1"/>
                    <a:pt x="5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9"/>
                    <a:pt x="67" y="6"/>
                  </a:cubicBezTo>
                  <a:cubicBezTo>
                    <a:pt x="67" y="3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7"/>
            <p:cNvSpPr/>
            <p:nvPr/>
          </p:nvSpPr>
          <p:spPr bwMode="auto">
            <a:xfrm>
              <a:off x="10854015" y="2723348"/>
              <a:ext cx="276849" cy="34527"/>
            </a:xfrm>
            <a:custGeom>
              <a:avLst/>
              <a:gdLst>
                <a:gd name="T0" fmla="*/ 84 w 90"/>
                <a:gd name="T1" fmla="*/ 0 h 11"/>
                <a:gd name="T2" fmla="*/ 6 w 90"/>
                <a:gd name="T3" fmla="*/ 0 h 11"/>
                <a:gd name="T4" fmla="*/ 0 w 90"/>
                <a:gd name="T5" fmla="*/ 5 h 11"/>
                <a:gd name="T6" fmla="*/ 6 w 90"/>
                <a:gd name="T7" fmla="*/ 11 h 11"/>
                <a:gd name="T8" fmla="*/ 84 w 90"/>
                <a:gd name="T9" fmla="*/ 11 h 11"/>
                <a:gd name="T10" fmla="*/ 90 w 90"/>
                <a:gd name="T11" fmla="*/ 5 h 11"/>
                <a:gd name="T12" fmla="*/ 84 w 90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11">
                  <a:moveTo>
                    <a:pt x="8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1"/>
                    <a:pt x="6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7" y="11"/>
                    <a:pt x="90" y="8"/>
                    <a:pt x="90" y="5"/>
                  </a:cubicBezTo>
                  <a:cubicBezTo>
                    <a:pt x="90" y="2"/>
                    <a:pt x="87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28"/>
            <p:cNvSpPr/>
            <p:nvPr/>
          </p:nvSpPr>
          <p:spPr bwMode="auto">
            <a:xfrm>
              <a:off x="10854015" y="2793730"/>
              <a:ext cx="276849" cy="34527"/>
            </a:xfrm>
            <a:custGeom>
              <a:avLst/>
              <a:gdLst>
                <a:gd name="T0" fmla="*/ 84 w 90"/>
                <a:gd name="T1" fmla="*/ 0 h 11"/>
                <a:gd name="T2" fmla="*/ 6 w 90"/>
                <a:gd name="T3" fmla="*/ 0 h 11"/>
                <a:gd name="T4" fmla="*/ 0 w 90"/>
                <a:gd name="T5" fmla="*/ 6 h 11"/>
                <a:gd name="T6" fmla="*/ 6 w 90"/>
                <a:gd name="T7" fmla="*/ 11 h 11"/>
                <a:gd name="T8" fmla="*/ 84 w 90"/>
                <a:gd name="T9" fmla="*/ 11 h 11"/>
                <a:gd name="T10" fmla="*/ 90 w 90"/>
                <a:gd name="T11" fmla="*/ 6 h 11"/>
                <a:gd name="T12" fmla="*/ 84 w 90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11">
                  <a:moveTo>
                    <a:pt x="8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7" y="11"/>
                    <a:pt x="90" y="9"/>
                    <a:pt x="90" y="6"/>
                  </a:cubicBezTo>
                  <a:cubicBezTo>
                    <a:pt x="90" y="3"/>
                    <a:pt x="87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Freeform 29"/>
            <p:cNvSpPr/>
            <p:nvPr/>
          </p:nvSpPr>
          <p:spPr bwMode="auto">
            <a:xfrm>
              <a:off x="10854015" y="2862784"/>
              <a:ext cx="276849" cy="38511"/>
            </a:xfrm>
            <a:custGeom>
              <a:avLst/>
              <a:gdLst>
                <a:gd name="T0" fmla="*/ 84 w 90"/>
                <a:gd name="T1" fmla="*/ 0 h 12"/>
                <a:gd name="T2" fmla="*/ 6 w 90"/>
                <a:gd name="T3" fmla="*/ 0 h 12"/>
                <a:gd name="T4" fmla="*/ 0 w 90"/>
                <a:gd name="T5" fmla="*/ 6 h 12"/>
                <a:gd name="T6" fmla="*/ 6 w 90"/>
                <a:gd name="T7" fmla="*/ 12 h 12"/>
                <a:gd name="T8" fmla="*/ 84 w 90"/>
                <a:gd name="T9" fmla="*/ 12 h 12"/>
                <a:gd name="T10" fmla="*/ 90 w 90"/>
                <a:gd name="T11" fmla="*/ 6 h 12"/>
                <a:gd name="T12" fmla="*/ 84 w 90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12">
                  <a:moveTo>
                    <a:pt x="8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7" y="12"/>
                    <a:pt x="90" y="9"/>
                    <a:pt x="90" y="6"/>
                  </a:cubicBezTo>
                  <a:cubicBezTo>
                    <a:pt x="90" y="3"/>
                    <a:pt x="87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椭圆 32"/>
          <p:cNvSpPr/>
          <p:nvPr/>
        </p:nvSpPr>
        <p:spPr>
          <a:xfrm>
            <a:off x="2000457" y="1345722"/>
            <a:ext cx="507683" cy="50768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Freeform 5"/>
          <p:cNvSpPr>
            <a:spLocks noEditPoints="1"/>
          </p:cNvSpPr>
          <p:nvPr/>
        </p:nvSpPr>
        <p:spPr bwMode="auto">
          <a:xfrm>
            <a:off x="2066983" y="1475903"/>
            <a:ext cx="371396" cy="232646"/>
          </a:xfrm>
          <a:custGeom>
            <a:avLst/>
            <a:gdLst>
              <a:gd name="T0" fmla="*/ 211 w 260"/>
              <a:gd name="T1" fmla="*/ 65 h 162"/>
              <a:gd name="T2" fmla="*/ 146 w 260"/>
              <a:gd name="T3" fmla="*/ 0 h 162"/>
              <a:gd name="T4" fmla="*/ 90 w 260"/>
              <a:gd name="T5" fmla="*/ 33 h 162"/>
              <a:gd name="T6" fmla="*/ 81 w 260"/>
              <a:gd name="T7" fmla="*/ 32 h 162"/>
              <a:gd name="T8" fmla="*/ 35 w 260"/>
              <a:gd name="T9" fmla="*/ 67 h 162"/>
              <a:gd name="T10" fmla="*/ 0 w 260"/>
              <a:gd name="T11" fmla="*/ 114 h 162"/>
              <a:gd name="T12" fmla="*/ 49 w 260"/>
              <a:gd name="T13" fmla="*/ 162 h 162"/>
              <a:gd name="T14" fmla="*/ 211 w 260"/>
              <a:gd name="T15" fmla="*/ 162 h 162"/>
              <a:gd name="T16" fmla="*/ 260 w 260"/>
              <a:gd name="T17" fmla="*/ 114 h 162"/>
              <a:gd name="T18" fmla="*/ 211 w 260"/>
              <a:gd name="T19" fmla="*/ 65 h 162"/>
              <a:gd name="T20" fmla="*/ 130 w 260"/>
              <a:gd name="T21" fmla="*/ 146 h 162"/>
              <a:gd name="T22" fmla="*/ 81 w 260"/>
              <a:gd name="T23" fmla="*/ 81 h 162"/>
              <a:gd name="T24" fmla="*/ 114 w 260"/>
              <a:gd name="T25" fmla="*/ 81 h 162"/>
              <a:gd name="T26" fmla="*/ 114 w 260"/>
              <a:gd name="T27" fmla="*/ 32 h 162"/>
              <a:gd name="T28" fmla="*/ 146 w 260"/>
              <a:gd name="T29" fmla="*/ 32 h 162"/>
              <a:gd name="T30" fmla="*/ 146 w 260"/>
              <a:gd name="T31" fmla="*/ 81 h 162"/>
              <a:gd name="T32" fmla="*/ 179 w 260"/>
              <a:gd name="T33" fmla="*/ 81 h 162"/>
              <a:gd name="T34" fmla="*/ 130 w 260"/>
              <a:gd name="T35" fmla="*/ 146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0" h="162">
                <a:moveTo>
                  <a:pt x="211" y="65"/>
                </a:moveTo>
                <a:cubicBezTo>
                  <a:pt x="211" y="29"/>
                  <a:pt x="182" y="0"/>
                  <a:pt x="146" y="0"/>
                </a:cubicBezTo>
                <a:cubicBezTo>
                  <a:pt x="122" y="0"/>
                  <a:pt x="101" y="13"/>
                  <a:pt x="90" y="33"/>
                </a:cubicBezTo>
                <a:cubicBezTo>
                  <a:pt x="87" y="33"/>
                  <a:pt x="84" y="32"/>
                  <a:pt x="81" y="32"/>
                </a:cubicBezTo>
                <a:cubicBezTo>
                  <a:pt x="59" y="32"/>
                  <a:pt x="41" y="47"/>
                  <a:pt x="35" y="67"/>
                </a:cubicBezTo>
                <a:cubicBezTo>
                  <a:pt x="15" y="73"/>
                  <a:pt x="0" y="92"/>
                  <a:pt x="0" y="114"/>
                </a:cubicBezTo>
                <a:cubicBezTo>
                  <a:pt x="0" y="140"/>
                  <a:pt x="22" y="162"/>
                  <a:pt x="49" y="162"/>
                </a:cubicBezTo>
                <a:cubicBezTo>
                  <a:pt x="211" y="162"/>
                  <a:pt x="211" y="162"/>
                  <a:pt x="211" y="162"/>
                </a:cubicBezTo>
                <a:cubicBezTo>
                  <a:pt x="238" y="162"/>
                  <a:pt x="260" y="140"/>
                  <a:pt x="260" y="114"/>
                </a:cubicBezTo>
                <a:cubicBezTo>
                  <a:pt x="260" y="87"/>
                  <a:pt x="238" y="65"/>
                  <a:pt x="211" y="65"/>
                </a:cubicBezTo>
                <a:close/>
                <a:moveTo>
                  <a:pt x="130" y="146"/>
                </a:moveTo>
                <a:cubicBezTo>
                  <a:pt x="81" y="81"/>
                  <a:pt x="81" y="81"/>
                  <a:pt x="81" y="81"/>
                </a:cubicBezTo>
                <a:cubicBezTo>
                  <a:pt x="114" y="81"/>
                  <a:pt x="114" y="81"/>
                  <a:pt x="114" y="81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146" y="32"/>
                  <a:pt x="146" y="32"/>
                  <a:pt x="146" y="32"/>
                </a:cubicBezTo>
                <a:cubicBezTo>
                  <a:pt x="146" y="81"/>
                  <a:pt x="146" y="81"/>
                  <a:pt x="146" y="81"/>
                </a:cubicBezTo>
                <a:cubicBezTo>
                  <a:pt x="179" y="81"/>
                  <a:pt x="179" y="81"/>
                  <a:pt x="179" y="81"/>
                </a:cubicBezTo>
                <a:lnTo>
                  <a:pt x="130" y="1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15"/>
          <p:cNvSpPr txBox="1"/>
          <p:nvPr/>
        </p:nvSpPr>
        <p:spPr>
          <a:xfrm>
            <a:off x="699979" y="276204"/>
            <a:ext cx="2261711" cy="3454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装配模型运行演示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66035" y="1417737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二通道空气舵</a:t>
            </a:r>
            <a:endParaRPr lang="zh-CN" altLang="en-US" sz="1050" b="1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08250" y="2520732"/>
            <a:ext cx="17830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ClrTx/>
              <a:buSzTx/>
              <a:buFontTx/>
            </a:pPr>
            <a:r>
              <a:rPr lang="zh-CN" altLang="en-US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大角度开合降落伞舱</a:t>
            </a:r>
          </a:p>
        </p:txBody>
      </p:sp>
      <p:sp>
        <p:nvSpPr>
          <p:cNvPr id="10" name="矩形 9"/>
          <p:cNvSpPr/>
          <p:nvPr/>
        </p:nvSpPr>
        <p:spPr>
          <a:xfrm>
            <a:off x="2559933" y="3589437"/>
            <a:ext cx="14274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金手指连接模拟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71729" y="1658839"/>
            <a:ext cx="4572000" cy="5530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考虑到箭体直径和舵机扭矩等多种因素，创新设计了具有稳定传动结构的二通道空气舵</a:t>
            </a:r>
          </a:p>
        </p:txBody>
      </p:sp>
      <p:sp>
        <p:nvSpPr>
          <p:cNvPr id="15" name="矩形 14"/>
          <p:cNvSpPr/>
          <p:nvPr/>
        </p:nvSpPr>
        <p:spPr>
          <a:xfrm>
            <a:off x="2571729" y="2784556"/>
            <a:ext cx="4572000" cy="5988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1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为保障恶劣气象条件下开伞的可靠性，创新设计了单舵机驱动的大角度开合降落伞舱</a:t>
            </a:r>
            <a:endParaRPr lang="zh-CN" altLang="en-US" sz="1000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71729" y="3853123"/>
            <a:ext cx="4924446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1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模拟各模块间金手指插件的连接，为</a:t>
            </a:r>
            <a:r>
              <a:rPr lang="en-US" altLang="zh-CN" sz="11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PCB</a:t>
            </a:r>
            <a:r>
              <a:rPr lang="zh-CN" altLang="en-US" sz="11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的设计提供了框架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椭圆 10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1"/>
          <p:cNvSpPr txBox="1"/>
          <p:nvPr/>
        </p:nvSpPr>
        <p:spPr>
          <a:xfrm>
            <a:off x="2294397" y="2709756"/>
            <a:ext cx="4555207" cy="5911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改进方向</a:t>
            </a:r>
          </a:p>
        </p:txBody>
      </p:sp>
      <p:sp>
        <p:nvSpPr>
          <p:cNvPr id="10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/>
      <p:bldP spid="1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H_Other_1"/>
          <p:cNvSpPr/>
          <p:nvPr/>
        </p:nvSpPr>
        <p:spPr>
          <a:xfrm>
            <a:off x="1725740" y="847141"/>
            <a:ext cx="858110" cy="8569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17" name="MH_Other_9"/>
          <p:cNvSpPr/>
          <p:nvPr/>
        </p:nvSpPr>
        <p:spPr bwMode="auto">
          <a:xfrm>
            <a:off x="1965009" y="1051761"/>
            <a:ext cx="442913" cy="401479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8" name="MH_Other_3"/>
          <p:cNvSpPr/>
          <p:nvPr/>
        </p:nvSpPr>
        <p:spPr>
          <a:xfrm>
            <a:off x="1686165" y="2933700"/>
            <a:ext cx="937088" cy="937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18" name="MH_Other_11"/>
          <p:cNvSpPr/>
          <p:nvPr/>
        </p:nvSpPr>
        <p:spPr bwMode="auto">
          <a:xfrm>
            <a:off x="1986662" y="3234197"/>
            <a:ext cx="336095" cy="336095"/>
          </a:xfrm>
          <a:custGeom>
            <a:avLst/>
            <a:gdLst>
              <a:gd name="T0" fmla="*/ 883582 w 2298700"/>
              <a:gd name="T1" fmla="*/ 1295872 h 2298700"/>
              <a:gd name="T2" fmla="*/ 899660 w 2298700"/>
              <a:gd name="T3" fmla="*/ 1824434 h 2298700"/>
              <a:gd name="T4" fmla="*/ 870674 w 2298700"/>
              <a:gd name="T5" fmla="*/ 1867800 h 2298700"/>
              <a:gd name="T6" fmla="*/ 472571 w 2298700"/>
              <a:gd name="T7" fmla="*/ 1870524 h 2298700"/>
              <a:gd name="T8" fmla="*/ 439282 w 2298700"/>
              <a:gd name="T9" fmla="*/ 1829883 h 2298700"/>
              <a:gd name="T10" fmla="*/ 450831 w 2298700"/>
              <a:gd name="T11" fmla="*/ 1299959 h 2298700"/>
              <a:gd name="T12" fmla="*/ 1168971 w 2298700"/>
              <a:gd name="T13" fmla="*/ 903287 h 2298700"/>
              <a:gd name="T14" fmla="*/ 1561900 w 2298700"/>
              <a:gd name="T15" fmla="*/ 923717 h 2298700"/>
              <a:gd name="T16" fmla="*/ 1573443 w 2298700"/>
              <a:gd name="T17" fmla="*/ 1829892 h 2298700"/>
              <a:gd name="T18" fmla="*/ 1540624 w 2298700"/>
              <a:gd name="T19" fmla="*/ 1870524 h 2298700"/>
              <a:gd name="T20" fmla="*/ 1142262 w 2298700"/>
              <a:gd name="T21" fmla="*/ 1867800 h 2298700"/>
              <a:gd name="T22" fmla="*/ 1113291 w 2298700"/>
              <a:gd name="T23" fmla="*/ 1824444 h 2298700"/>
              <a:gd name="T24" fmla="*/ 1129361 w 2298700"/>
              <a:gd name="T25" fmla="*/ 919404 h 2298700"/>
              <a:gd name="T26" fmla="*/ 2191940 w 2298700"/>
              <a:gd name="T27" fmla="*/ 450850 h 2298700"/>
              <a:gd name="T28" fmla="*/ 2238385 w 2298700"/>
              <a:gd name="T29" fmla="*/ 475582 h 2298700"/>
              <a:gd name="T30" fmla="*/ 2245636 w 2298700"/>
              <a:gd name="T31" fmla="*/ 1835358 h 2298700"/>
              <a:gd name="T32" fmla="*/ 2208706 w 2298700"/>
              <a:gd name="T33" fmla="*/ 1872115 h 2298700"/>
              <a:gd name="T34" fmla="*/ 1810633 w 2298700"/>
              <a:gd name="T35" fmla="*/ 1865309 h 2298700"/>
              <a:gd name="T36" fmla="*/ 1785938 w 2298700"/>
              <a:gd name="T37" fmla="*/ 1818568 h 2298700"/>
              <a:gd name="T38" fmla="*/ 1806329 w 2298700"/>
              <a:gd name="T39" fmla="*/ 463556 h 2298700"/>
              <a:gd name="T40" fmla="*/ 1464870 w 2298700"/>
              <a:gd name="T41" fmla="*/ 38100 h 2298700"/>
              <a:gd name="T42" fmla="*/ 1493876 w 2298700"/>
              <a:gd name="T43" fmla="*/ 48317 h 2298700"/>
              <a:gd name="T44" fmla="*/ 1512005 w 2298700"/>
              <a:gd name="T45" fmla="*/ 72609 h 2298700"/>
              <a:gd name="T46" fmla="*/ 1540105 w 2298700"/>
              <a:gd name="T47" fmla="*/ 509198 h 2298700"/>
              <a:gd name="T48" fmla="*/ 1503847 w 2298700"/>
              <a:gd name="T49" fmla="*/ 543253 h 2298700"/>
              <a:gd name="T50" fmla="*/ 1459205 w 2298700"/>
              <a:gd name="T51" fmla="*/ 535761 h 2298700"/>
              <a:gd name="T52" fmla="*/ 1437677 w 2298700"/>
              <a:gd name="T53" fmla="*/ 503749 h 2298700"/>
              <a:gd name="T54" fmla="*/ 1348845 w 2298700"/>
              <a:gd name="T55" fmla="*/ 357311 h 2298700"/>
              <a:gd name="T56" fmla="*/ 1214465 w 2298700"/>
              <a:gd name="T57" fmla="*/ 507608 h 2298700"/>
              <a:gd name="T58" fmla="*/ 1010062 w 2298700"/>
              <a:gd name="T59" fmla="*/ 669711 h 2298700"/>
              <a:gd name="T60" fmla="*/ 834212 w 2298700"/>
              <a:gd name="T61" fmla="*/ 763477 h 2298700"/>
              <a:gd name="T62" fmla="*/ 682609 w 2298700"/>
              <a:gd name="T63" fmla="*/ 817965 h 2298700"/>
              <a:gd name="T64" fmla="*/ 523528 w 2298700"/>
              <a:gd name="T65" fmla="*/ 852928 h 2298700"/>
              <a:gd name="T66" fmla="*/ 404104 w 2298700"/>
              <a:gd name="T67" fmla="*/ 862464 h 2298700"/>
              <a:gd name="T68" fmla="*/ 374191 w 2298700"/>
              <a:gd name="T69" fmla="*/ 838852 h 2298700"/>
              <a:gd name="T70" fmla="*/ 369206 w 2298700"/>
              <a:gd name="T71" fmla="*/ 795034 h 2298700"/>
              <a:gd name="T72" fmla="*/ 405237 w 2298700"/>
              <a:gd name="T73" fmla="*/ 760071 h 2298700"/>
              <a:gd name="T74" fmla="*/ 535765 w 2298700"/>
              <a:gd name="T75" fmla="*/ 742589 h 2298700"/>
              <a:gd name="T76" fmla="*/ 679890 w 2298700"/>
              <a:gd name="T77" fmla="*/ 706945 h 2298700"/>
              <a:gd name="T78" fmla="*/ 816536 w 2298700"/>
              <a:gd name="T79" fmla="*/ 654273 h 2298700"/>
              <a:gd name="T80" fmla="*/ 989667 w 2298700"/>
              <a:gd name="T81" fmla="*/ 554832 h 2298700"/>
              <a:gd name="T82" fmla="*/ 1171862 w 2298700"/>
              <a:gd name="T83" fmla="*/ 398859 h 2298700"/>
              <a:gd name="T84" fmla="*/ 1282675 w 2298700"/>
              <a:gd name="T85" fmla="*/ 267178 h 2298700"/>
              <a:gd name="T86" fmla="*/ 1087110 w 2298700"/>
              <a:gd name="T87" fmla="*/ 283979 h 2298700"/>
              <a:gd name="T88" fmla="*/ 1044054 w 2298700"/>
              <a:gd name="T89" fmla="*/ 259005 h 2298700"/>
              <a:gd name="T90" fmla="*/ 1040654 w 2298700"/>
              <a:gd name="T91" fmla="*/ 208376 h 2298700"/>
              <a:gd name="T92" fmla="*/ 1446288 w 2298700"/>
              <a:gd name="T93" fmla="*/ 40370 h 2298700"/>
              <a:gd name="T94" fmla="*/ 128386 w 2298700"/>
              <a:gd name="T95" fmla="*/ 3403 h 2298700"/>
              <a:gd name="T96" fmla="*/ 171711 w 2298700"/>
              <a:gd name="T97" fmla="*/ 26993 h 2298700"/>
              <a:gd name="T98" fmla="*/ 199157 w 2298700"/>
              <a:gd name="T99" fmla="*/ 67596 h 2298700"/>
              <a:gd name="T100" fmla="*/ 2201163 w 2298700"/>
              <a:gd name="T101" fmla="*/ 2093192 h 2298700"/>
              <a:gd name="T102" fmla="*/ 2249251 w 2298700"/>
              <a:gd name="T103" fmla="*/ 2107936 h 2298700"/>
              <a:gd name="T104" fmla="*/ 2283729 w 2298700"/>
              <a:gd name="T105" fmla="*/ 2142414 h 2298700"/>
              <a:gd name="T106" fmla="*/ 2298473 w 2298700"/>
              <a:gd name="T107" fmla="*/ 2190729 h 2298700"/>
              <a:gd name="T108" fmla="*/ 2288720 w 2298700"/>
              <a:gd name="T109" fmla="*/ 2240405 h 2298700"/>
              <a:gd name="T110" fmla="*/ 2257417 w 2298700"/>
              <a:gd name="T111" fmla="*/ 2278059 h 2298700"/>
              <a:gd name="T112" fmla="*/ 2211597 w 2298700"/>
              <a:gd name="T113" fmla="*/ 2297566 h 2298700"/>
              <a:gd name="T114" fmla="*/ 72132 w 2298700"/>
              <a:gd name="T115" fmla="*/ 2294164 h 2298700"/>
              <a:gd name="T116" fmla="*/ 29715 w 2298700"/>
              <a:gd name="T117" fmla="*/ 2268532 h 2298700"/>
              <a:gd name="T118" fmla="*/ 4537 w 2298700"/>
              <a:gd name="T119" fmla="*/ 2226568 h 2298700"/>
              <a:gd name="T120" fmla="*/ 907 w 2298700"/>
              <a:gd name="T121" fmla="*/ 87330 h 2298700"/>
              <a:gd name="T122" fmla="*/ 20188 w 2298700"/>
              <a:gd name="T123" fmla="*/ 41510 h 2298700"/>
              <a:gd name="T124" fmla="*/ 57842 w 2298700"/>
              <a:gd name="T125" fmla="*/ 10434 h 2298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98700" h="2298700">
                <a:moveTo>
                  <a:pt x="494084" y="1279525"/>
                </a:moveTo>
                <a:lnTo>
                  <a:pt x="844179" y="1279525"/>
                </a:lnTo>
                <a:lnTo>
                  <a:pt x="849841" y="1279752"/>
                </a:lnTo>
                <a:lnTo>
                  <a:pt x="855502" y="1280660"/>
                </a:lnTo>
                <a:lnTo>
                  <a:pt x="860710" y="1282023"/>
                </a:lnTo>
                <a:lnTo>
                  <a:pt x="865692" y="1283839"/>
                </a:lnTo>
                <a:lnTo>
                  <a:pt x="870674" y="1286109"/>
                </a:lnTo>
                <a:lnTo>
                  <a:pt x="875203" y="1289061"/>
                </a:lnTo>
                <a:lnTo>
                  <a:pt x="879732" y="1292467"/>
                </a:lnTo>
                <a:lnTo>
                  <a:pt x="883582" y="1295872"/>
                </a:lnTo>
                <a:lnTo>
                  <a:pt x="887205" y="1299959"/>
                </a:lnTo>
                <a:lnTo>
                  <a:pt x="890602" y="1304273"/>
                </a:lnTo>
                <a:lnTo>
                  <a:pt x="893320" y="1308814"/>
                </a:lnTo>
                <a:lnTo>
                  <a:pt x="895584" y="1313809"/>
                </a:lnTo>
                <a:lnTo>
                  <a:pt x="897396" y="1319031"/>
                </a:lnTo>
                <a:lnTo>
                  <a:pt x="898981" y="1324480"/>
                </a:lnTo>
                <a:lnTo>
                  <a:pt x="899660" y="1329702"/>
                </a:lnTo>
                <a:lnTo>
                  <a:pt x="900113" y="1335378"/>
                </a:lnTo>
                <a:lnTo>
                  <a:pt x="900113" y="1818531"/>
                </a:lnTo>
                <a:lnTo>
                  <a:pt x="899660" y="1824434"/>
                </a:lnTo>
                <a:lnTo>
                  <a:pt x="898981" y="1829883"/>
                </a:lnTo>
                <a:lnTo>
                  <a:pt x="897396" y="1835332"/>
                </a:lnTo>
                <a:lnTo>
                  <a:pt x="895584" y="1840554"/>
                </a:lnTo>
                <a:lnTo>
                  <a:pt x="893320" y="1845322"/>
                </a:lnTo>
                <a:lnTo>
                  <a:pt x="890602" y="1850090"/>
                </a:lnTo>
                <a:lnTo>
                  <a:pt x="887205" y="1854404"/>
                </a:lnTo>
                <a:lnTo>
                  <a:pt x="883582" y="1858264"/>
                </a:lnTo>
                <a:lnTo>
                  <a:pt x="879732" y="1861897"/>
                </a:lnTo>
                <a:lnTo>
                  <a:pt x="875203" y="1865302"/>
                </a:lnTo>
                <a:lnTo>
                  <a:pt x="870674" y="1867800"/>
                </a:lnTo>
                <a:lnTo>
                  <a:pt x="865692" y="1870524"/>
                </a:lnTo>
                <a:lnTo>
                  <a:pt x="860710" y="1872114"/>
                </a:lnTo>
                <a:lnTo>
                  <a:pt x="855502" y="1873476"/>
                </a:lnTo>
                <a:lnTo>
                  <a:pt x="849841" y="1874611"/>
                </a:lnTo>
                <a:lnTo>
                  <a:pt x="844179" y="1874838"/>
                </a:lnTo>
                <a:lnTo>
                  <a:pt x="494084" y="1874838"/>
                </a:lnTo>
                <a:lnTo>
                  <a:pt x="488423" y="1874611"/>
                </a:lnTo>
                <a:lnTo>
                  <a:pt x="482761" y="1873476"/>
                </a:lnTo>
                <a:lnTo>
                  <a:pt x="477326" y="1872114"/>
                </a:lnTo>
                <a:lnTo>
                  <a:pt x="472571" y="1870524"/>
                </a:lnTo>
                <a:lnTo>
                  <a:pt x="467589" y="1867800"/>
                </a:lnTo>
                <a:lnTo>
                  <a:pt x="463060" y="1865302"/>
                </a:lnTo>
                <a:lnTo>
                  <a:pt x="458531" y="1861897"/>
                </a:lnTo>
                <a:lnTo>
                  <a:pt x="454455" y="1858264"/>
                </a:lnTo>
                <a:lnTo>
                  <a:pt x="450831" y="1854404"/>
                </a:lnTo>
                <a:lnTo>
                  <a:pt x="447661" y="1850090"/>
                </a:lnTo>
                <a:lnTo>
                  <a:pt x="444944" y="1845322"/>
                </a:lnTo>
                <a:lnTo>
                  <a:pt x="442679" y="1840554"/>
                </a:lnTo>
                <a:lnTo>
                  <a:pt x="440868" y="1835332"/>
                </a:lnTo>
                <a:lnTo>
                  <a:pt x="439282" y="1829883"/>
                </a:lnTo>
                <a:lnTo>
                  <a:pt x="438603" y="1824434"/>
                </a:lnTo>
                <a:lnTo>
                  <a:pt x="438150" y="1818531"/>
                </a:lnTo>
                <a:lnTo>
                  <a:pt x="438150" y="1335378"/>
                </a:lnTo>
                <a:lnTo>
                  <a:pt x="438603" y="1329702"/>
                </a:lnTo>
                <a:lnTo>
                  <a:pt x="439282" y="1324480"/>
                </a:lnTo>
                <a:lnTo>
                  <a:pt x="440868" y="1319031"/>
                </a:lnTo>
                <a:lnTo>
                  <a:pt x="442679" y="1313809"/>
                </a:lnTo>
                <a:lnTo>
                  <a:pt x="444944" y="1308814"/>
                </a:lnTo>
                <a:lnTo>
                  <a:pt x="447661" y="1304273"/>
                </a:lnTo>
                <a:lnTo>
                  <a:pt x="450831" y="1299959"/>
                </a:lnTo>
                <a:lnTo>
                  <a:pt x="454455" y="1295872"/>
                </a:lnTo>
                <a:lnTo>
                  <a:pt x="458531" y="1292467"/>
                </a:lnTo>
                <a:lnTo>
                  <a:pt x="463060" y="1289061"/>
                </a:lnTo>
                <a:lnTo>
                  <a:pt x="467589" y="1286109"/>
                </a:lnTo>
                <a:lnTo>
                  <a:pt x="472571" y="1283839"/>
                </a:lnTo>
                <a:lnTo>
                  <a:pt x="477326" y="1282023"/>
                </a:lnTo>
                <a:lnTo>
                  <a:pt x="482761" y="1280660"/>
                </a:lnTo>
                <a:lnTo>
                  <a:pt x="488423" y="1279752"/>
                </a:lnTo>
                <a:lnTo>
                  <a:pt x="494084" y="1279525"/>
                </a:lnTo>
                <a:close/>
                <a:moveTo>
                  <a:pt x="1168971" y="903287"/>
                </a:moveTo>
                <a:lnTo>
                  <a:pt x="1518668" y="903287"/>
                </a:lnTo>
                <a:lnTo>
                  <a:pt x="1524553" y="903514"/>
                </a:lnTo>
                <a:lnTo>
                  <a:pt x="1529985" y="904195"/>
                </a:lnTo>
                <a:lnTo>
                  <a:pt x="1535418" y="905557"/>
                </a:lnTo>
                <a:lnTo>
                  <a:pt x="1540624" y="907600"/>
                </a:lnTo>
                <a:lnTo>
                  <a:pt x="1545377" y="909870"/>
                </a:lnTo>
                <a:lnTo>
                  <a:pt x="1550130" y="912821"/>
                </a:lnTo>
                <a:lnTo>
                  <a:pt x="1554430" y="915999"/>
                </a:lnTo>
                <a:lnTo>
                  <a:pt x="1558278" y="919404"/>
                </a:lnTo>
                <a:lnTo>
                  <a:pt x="1561900" y="923717"/>
                </a:lnTo>
                <a:lnTo>
                  <a:pt x="1565295" y="927803"/>
                </a:lnTo>
                <a:lnTo>
                  <a:pt x="1567784" y="932343"/>
                </a:lnTo>
                <a:lnTo>
                  <a:pt x="1570274" y="937337"/>
                </a:lnTo>
                <a:lnTo>
                  <a:pt x="1572085" y="942558"/>
                </a:lnTo>
                <a:lnTo>
                  <a:pt x="1573443" y="948006"/>
                </a:lnTo>
                <a:lnTo>
                  <a:pt x="1574575" y="953681"/>
                </a:lnTo>
                <a:lnTo>
                  <a:pt x="1574801" y="959355"/>
                </a:lnTo>
                <a:lnTo>
                  <a:pt x="1574801" y="1818542"/>
                </a:lnTo>
                <a:lnTo>
                  <a:pt x="1574575" y="1824444"/>
                </a:lnTo>
                <a:lnTo>
                  <a:pt x="1573443" y="1829892"/>
                </a:lnTo>
                <a:lnTo>
                  <a:pt x="1572085" y="1835340"/>
                </a:lnTo>
                <a:lnTo>
                  <a:pt x="1570274" y="1840560"/>
                </a:lnTo>
                <a:lnTo>
                  <a:pt x="1567784" y="1845327"/>
                </a:lnTo>
                <a:lnTo>
                  <a:pt x="1565295" y="1850094"/>
                </a:lnTo>
                <a:lnTo>
                  <a:pt x="1561900" y="1854407"/>
                </a:lnTo>
                <a:lnTo>
                  <a:pt x="1558278" y="1858266"/>
                </a:lnTo>
                <a:lnTo>
                  <a:pt x="1554430" y="1861898"/>
                </a:lnTo>
                <a:lnTo>
                  <a:pt x="1550130" y="1865303"/>
                </a:lnTo>
                <a:lnTo>
                  <a:pt x="1545377" y="1867800"/>
                </a:lnTo>
                <a:lnTo>
                  <a:pt x="1540624" y="1870524"/>
                </a:lnTo>
                <a:lnTo>
                  <a:pt x="1535418" y="1872113"/>
                </a:lnTo>
                <a:lnTo>
                  <a:pt x="1529985" y="1873475"/>
                </a:lnTo>
                <a:lnTo>
                  <a:pt x="1524553" y="1874610"/>
                </a:lnTo>
                <a:lnTo>
                  <a:pt x="1518668" y="1874837"/>
                </a:lnTo>
                <a:lnTo>
                  <a:pt x="1168971" y="1874837"/>
                </a:lnTo>
                <a:lnTo>
                  <a:pt x="1163312" y="1874610"/>
                </a:lnTo>
                <a:lnTo>
                  <a:pt x="1157654" y="1873475"/>
                </a:lnTo>
                <a:lnTo>
                  <a:pt x="1152221" y="1872113"/>
                </a:lnTo>
                <a:lnTo>
                  <a:pt x="1147242" y="1870524"/>
                </a:lnTo>
                <a:lnTo>
                  <a:pt x="1142262" y="1867800"/>
                </a:lnTo>
                <a:lnTo>
                  <a:pt x="1137736" y="1865303"/>
                </a:lnTo>
                <a:lnTo>
                  <a:pt x="1133435" y="1861898"/>
                </a:lnTo>
                <a:lnTo>
                  <a:pt x="1129361" y="1858266"/>
                </a:lnTo>
                <a:lnTo>
                  <a:pt x="1125740" y="1854407"/>
                </a:lnTo>
                <a:lnTo>
                  <a:pt x="1122797" y="1850094"/>
                </a:lnTo>
                <a:lnTo>
                  <a:pt x="1119855" y="1845327"/>
                </a:lnTo>
                <a:lnTo>
                  <a:pt x="1117365" y="1840560"/>
                </a:lnTo>
                <a:lnTo>
                  <a:pt x="1115554" y="1835340"/>
                </a:lnTo>
                <a:lnTo>
                  <a:pt x="1114196" y="1829892"/>
                </a:lnTo>
                <a:lnTo>
                  <a:pt x="1113291" y="1824444"/>
                </a:lnTo>
                <a:lnTo>
                  <a:pt x="1112838" y="1818542"/>
                </a:lnTo>
                <a:lnTo>
                  <a:pt x="1112838" y="959355"/>
                </a:lnTo>
                <a:lnTo>
                  <a:pt x="1113291" y="953681"/>
                </a:lnTo>
                <a:lnTo>
                  <a:pt x="1114196" y="948006"/>
                </a:lnTo>
                <a:lnTo>
                  <a:pt x="1115554" y="942558"/>
                </a:lnTo>
                <a:lnTo>
                  <a:pt x="1117365" y="937337"/>
                </a:lnTo>
                <a:lnTo>
                  <a:pt x="1119855" y="932343"/>
                </a:lnTo>
                <a:lnTo>
                  <a:pt x="1122797" y="927803"/>
                </a:lnTo>
                <a:lnTo>
                  <a:pt x="1125740" y="923717"/>
                </a:lnTo>
                <a:lnTo>
                  <a:pt x="1129361" y="919404"/>
                </a:lnTo>
                <a:lnTo>
                  <a:pt x="1133435" y="915999"/>
                </a:lnTo>
                <a:lnTo>
                  <a:pt x="1137736" y="912821"/>
                </a:lnTo>
                <a:lnTo>
                  <a:pt x="1142262" y="909870"/>
                </a:lnTo>
                <a:lnTo>
                  <a:pt x="1147242" y="907600"/>
                </a:lnTo>
                <a:lnTo>
                  <a:pt x="1152221" y="905557"/>
                </a:lnTo>
                <a:lnTo>
                  <a:pt x="1157654" y="904195"/>
                </a:lnTo>
                <a:lnTo>
                  <a:pt x="1163312" y="903514"/>
                </a:lnTo>
                <a:lnTo>
                  <a:pt x="1168971" y="903287"/>
                </a:lnTo>
                <a:close/>
                <a:moveTo>
                  <a:pt x="1841899" y="450850"/>
                </a:moveTo>
                <a:lnTo>
                  <a:pt x="2191940" y="450850"/>
                </a:lnTo>
                <a:lnTo>
                  <a:pt x="2197604" y="451077"/>
                </a:lnTo>
                <a:lnTo>
                  <a:pt x="2203268" y="451985"/>
                </a:lnTo>
                <a:lnTo>
                  <a:pt x="2208706" y="453573"/>
                </a:lnTo>
                <a:lnTo>
                  <a:pt x="2213917" y="455388"/>
                </a:lnTo>
                <a:lnTo>
                  <a:pt x="2218674" y="457657"/>
                </a:lnTo>
                <a:lnTo>
                  <a:pt x="2223206" y="460380"/>
                </a:lnTo>
                <a:lnTo>
                  <a:pt x="2227510" y="463556"/>
                </a:lnTo>
                <a:lnTo>
                  <a:pt x="2231589" y="467186"/>
                </a:lnTo>
                <a:lnTo>
                  <a:pt x="2235214" y="471271"/>
                </a:lnTo>
                <a:lnTo>
                  <a:pt x="2238385" y="475582"/>
                </a:lnTo>
                <a:lnTo>
                  <a:pt x="2241104" y="480119"/>
                </a:lnTo>
                <a:lnTo>
                  <a:pt x="2243596" y="484884"/>
                </a:lnTo>
                <a:lnTo>
                  <a:pt x="2245636" y="490103"/>
                </a:lnTo>
                <a:lnTo>
                  <a:pt x="2246768" y="495548"/>
                </a:lnTo>
                <a:lnTo>
                  <a:pt x="2247675" y="501221"/>
                </a:lnTo>
                <a:lnTo>
                  <a:pt x="2247901" y="506893"/>
                </a:lnTo>
                <a:lnTo>
                  <a:pt x="2247901" y="1818568"/>
                </a:lnTo>
                <a:lnTo>
                  <a:pt x="2247675" y="1824468"/>
                </a:lnTo>
                <a:lnTo>
                  <a:pt x="2246768" y="1829913"/>
                </a:lnTo>
                <a:lnTo>
                  <a:pt x="2245636" y="1835358"/>
                </a:lnTo>
                <a:lnTo>
                  <a:pt x="2243596" y="1840577"/>
                </a:lnTo>
                <a:lnTo>
                  <a:pt x="2241104" y="1845342"/>
                </a:lnTo>
                <a:lnTo>
                  <a:pt x="2238385" y="1850107"/>
                </a:lnTo>
                <a:lnTo>
                  <a:pt x="2235214" y="1854418"/>
                </a:lnTo>
                <a:lnTo>
                  <a:pt x="2231589" y="1858275"/>
                </a:lnTo>
                <a:lnTo>
                  <a:pt x="2227510" y="1861905"/>
                </a:lnTo>
                <a:lnTo>
                  <a:pt x="2223206" y="1865309"/>
                </a:lnTo>
                <a:lnTo>
                  <a:pt x="2218674" y="1867804"/>
                </a:lnTo>
                <a:lnTo>
                  <a:pt x="2213917" y="1870527"/>
                </a:lnTo>
                <a:lnTo>
                  <a:pt x="2208706" y="1872115"/>
                </a:lnTo>
                <a:lnTo>
                  <a:pt x="2203268" y="1873477"/>
                </a:lnTo>
                <a:lnTo>
                  <a:pt x="2197604" y="1874611"/>
                </a:lnTo>
                <a:lnTo>
                  <a:pt x="2191940" y="1874838"/>
                </a:lnTo>
                <a:lnTo>
                  <a:pt x="1841899" y="1874838"/>
                </a:lnTo>
                <a:lnTo>
                  <a:pt x="1836235" y="1874611"/>
                </a:lnTo>
                <a:lnTo>
                  <a:pt x="1830798" y="1873477"/>
                </a:lnTo>
                <a:lnTo>
                  <a:pt x="1825360" y="1872115"/>
                </a:lnTo>
                <a:lnTo>
                  <a:pt x="1820149" y="1870527"/>
                </a:lnTo>
                <a:lnTo>
                  <a:pt x="1815165" y="1867804"/>
                </a:lnTo>
                <a:lnTo>
                  <a:pt x="1810633" y="1865309"/>
                </a:lnTo>
                <a:lnTo>
                  <a:pt x="1806329" y="1861905"/>
                </a:lnTo>
                <a:lnTo>
                  <a:pt x="1802477" y="1858275"/>
                </a:lnTo>
                <a:lnTo>
                  <a:pt x="1798852" y="1854418"/>
                </a:lnTo>
                <a:lnTo>
                  <a:pt x="1795454" y="1850107"/>
                </a:lnTo>
                <a:lnTo>
                  <a:pt x="1792508" y="1845342"/>
                </a:lnTo>
                <a:lnTo>
                  <a:pt x="1790243" y="1840577"/>
                </a:lnTo>
                <a:lnTo>
                  <a:pt x="1788430" y="1835358"/>
                </a:lnTo>
                <a:lnTo>
                  <a:pt x="1786844" y="1829913"/>
                </a:lnTo>
                <a:lnTo>
                  <a:pt x="1786165" y="1824468"/>
                </a:lnTo>
                <a:lnTo>
                  <a:pt x="1785938" y="1818568"/>
                </a:lnTo>
                <a:lnTo>
                  <a:pt x="1785938" y="506893"/>
                </a:lnTo>
                <a:lnTo>
                  <a:pt x="1786165" y="501221"/>
                </a:lnTo>
                <a:lnTo>
                  <a:pt x="1786844" y="495548"/>
                </a:lnTo>
                <a:lnTo>
                  <a:pt x="1788430" y="490103"/>
                </a:lnTo>
                <a:lnTo>
                  <a:pt x="1790243" y="484884"/>
                </a:lnTo>
                <a:lnTo>
                  <a:pt x="1792508" y="480119"/>
                </a:lnTo>
                <a:lnTo>
                  <a:pt x="1795454" y="475582"/>
                </a:lnTo>
                <a:lnTo>
                  <a:pt x="1798852" y="471271"/>
                </a:lnTo>
                <a:lnTo>
                  <a:pt x="1802477" y="467186"/>
                </a:lnTo>
                <a:lnTo>
                  <a:pt x="1806329" y="463556"/>
                </a:lnTo>
                <a:lnTo>
                  <a:pt x="1810633" y="460380"/>
                </a:lnTo>
                <a:lnTo>
                  <a:pt x="1815165" y="457657"/>
                </a:lnTo>
                <a:lnTo>
                  <a:pt x="1820149" y="455388"/>
                </a:lnTo>
                <a:lnTo>
                  <a:pt x="1825360" y="453573"/>
                </a:lnTo>
                <a:lnTo>
                  <a:pt x="1830798" y="451985"/>
                </a:lnTo>
                <a:lnTo>
                  <a:pt x="1836235" y="451077"/>
                </a:lnTo>
                <a:lnTo>
                  <a:pt x="1841899" y="450850"/>
                </a:lnTo>
                <a:close/>
                <a:moveTo>
                  <a:pt x="1458752" y="38100"/>
                </a:moveTo>
                <a:lnTo>
                  <a:pt x="1461698" y="38100"/>
                </a:lnTo>
                <a:lnTo>
                  <a:pt x="1464870" y="38100"/>
                </a:lnTo>
                <a:lnTo>
                  <a:pt x="1468043" y="38327"/>
                </a:lnTo>
                <a:lnTo>
                  <a:pt x="1470989" y="38554"/>
                </a:lnTo>
                <a:lnTo>
                  <a:pt x="1473935" y="39235"/>
                </a:lnTo>
                <a:lnTo>
                  <a:pt x="1477107" y="40143"/>
                </a:lnTo>
                <a:lnTo>
                  <a:pt x="1479827" y="40825"/>
                </a:lnTo>
                <a:lnTo>
                  <a:pt x="1482773" y="42187"/>
                </a:lnTo>
                <a:lnTo>
                  <a:pt x="1485718" y="43322"/>
                </a:lnTo>
                <a:lnTo>
                  <a:pt x="1488438" y="44684"/>
                </a:lnTo>
                <a:lnTo>
                  <a:pt x="1491157" y="46500"/>
                </a:lnTo>
                <a:lnTo>
                  <a:pt x="1493876" y="48317"/>
                </a:lnTo>
                <a:lnTo>
                  <a:pt x="1496143" y="50133"/>
                </a:lnTo>
                <a:lnTo>
                  <a:pt x="1498409" y="52176"/>
                </a:lnTo>
                <a:lnTo>
                  <a:pt x="1500675" y="54447"/>
                </a:lnTo>
                <a:lnTo>
                  <a:pt x="1502714" y="56490"/>
                </a:lnTo>
                <a:lnTo>
                  <a:pt x="1504754" y="59214"/>
                </a:lnTo>
                <a:lnTo>
                  <a:pt x="1506567" y="61485"/>
                </a:lnTo>
                <a:lnTo>
                  <a:pt x="1508153" y="64436"/>
                </a:lnTo>
                <a:lnTo>
                  <a:pt x="1509739" y="66934"/>
                </a:lnTo>
                <a:lnTo>
                  <a:pt x="1511099" y="69658"/>
                </a:lnTo>
                <a:lnTo>
                  <a:pt x="1512005" y="72609"/>
                </a:lnTo>
                <a:lnTo>
                  <a:pt x="1513138" y="75334"/>
                </a:lnTo>
                <a:lnTo>
                  <a:pt x="1514045" y="78512"/>
                </a:lnTo>
                <a:lnTo>
                  <a:pt x="1514725" y="81691"/>
                </a:lnTo>
                <a:lnTo>
                  <a:pt x="1515178" y="84642"/>
                </a:lnTo>
                <a:lnTo>
                  <a:pt x="1515405" y="87821"/>
                </a:lnTo>
                <a:lnTo>
                  <a:pt x="1543051" y="488083"/>
                </a:lnTo>
                <a:lnTo>
                  <a:pt x="1543051" y="493305"/>
                </a:lnTo>
                <a:lnTo>
                  <a:pt x="1542371" y="498754"/>
                </a:lnTo>
                <a:lnTo>
                  <a:pt x="1541691" y="503976"/>
                </a:lnTo>
                <a:lnTo>
                  <a:pt x="1540105" y="509198"/>
                </a:lnTo>
                <a:lnTo>
                  <a:pt x="1538066" y="513965"/>
                </a:lnTo>
                <a:lnTo>
                  <a:pt x="1535800" y="518506"/>
                </a:lnTo>
                <a:lnTo>
                  <a:pt x="1532854" y="522820"/>
                </a:lnTo>
                <a:lnTo>
                  <a:pt x="1529908" y="526906"/>
                </a:lnTo>
                <a:lnTo>
                  <a:pt x="1526282" y="530539"/>
                </a:lnTo>
                <a:lnTo>
                  <a:pt x="1522429" y="533944"/>
                </a:lnTo>
                <a:lnTo>
                  <a:pt x="1518350" y="537123"/>
                </a:lnTo>
                <a:lnTo>
                  <a:pt x="1513592" y="539620"/>
                </a:lnTo>
                <a:lnTo>
                  <a:pt x="1509059" y="541663"/>
                </a:lnTo>
                <a:lnTo>
                  <a:pt x="1503847" y="543253"/>
                </a:lnTo>
                <a:lnTo>
                  <a:pt x="1498635" y="544615"/>
                </a:lnTo>
                <a:lnTo>
                  <a:pt x="1493197" y="545069"/>
                </a:lnTo>
                <a:lnTo>
                  <a:pt x="1488211" y="545296"/>
                </a:lnTo>
                <a:lnTo>
                  <a:pt x="1482999" y="544842"/>
                </a:lnTo>
                <a:lnTo>
                  <a:pt x="1478014" y="543934"/>
                </a:lnTo>
                <a:lnTo>
                  <a:pt x="1473481" y="542799"/>
                </a:lnTo>
                <a:lnTo>
                  <a:pt x="1469629" y="541437"/>
                </a:lnTo>
                <a:lnTo>
                  <a:pt x="1466003" y="539847"/>
                </a:lnTo>
                <a:lnTo>
                  <a:pt x="1462604" y="537804"/>
                </a:lnTo>
                <a:lnTo>
                  <a:pt x="1459205" y="535761"/>
                </a:lnTo>
                <a:lnTo>
                  <a:pt x="1456032" y="533490"/>
                </a:lnTo>
                <a:lnTo>
                  <a:pt x="1453086" y="530766"/>
                </a:lnTo>
                <a:lnTo>
                  <a:pt x="1450367" y="528041"/>
                </a:lnTo>
                <a:lnTo>
                  <a:pt x="1447874" y="525090"/>
                </a:lnTo>
                <a:lnTo>
                  <a:pt x="1445382" y="522139"/>
                </a:lnTo>
                <a:lnTo>
                  <a:pt x="1443342" y="518733"/>
                </a:lnTo>
                <a:lnTo>
                  <a:pt x="1441529" y="515100"/>
                </a:lnTo>
                <a:lnTo>
                  <a:pt x="1439943" y="511468"/>
                </a:lnTo>
                <a:lnTo>
                  <a:pt x="1438583" y="507608"/>
                </a:lnTo>
                <a:lnTo>
                  <a:pt x="1437677" y="503749"/>
                </a:lnTo>
                <a:lnTo>
                  <a:pt x="1436770" y="499662"/>
                </a:lnTo>
                <a:lnTo>
                  <a:pt x="1436317" y="495348"/>
                </a:lnTo>
                <a:lnTo>
                  <a:pt x="1419775" y="256735"/>
                </a:lnTo>
                <a:lnTo>
                  <a:pt x="1404592" y="280119"/>
                </a:lnTo>
                <a:lnTo>
                  <a:pt x="1396434" y="292606"/>
                </a:lnTo>
                <a:lnTo>
                  <a:pt x="1387596" y="304866"/>
                </a:lnTo>
                <a:lnTo>
                  <a:pt x="1378531" y="317580"/>
                </a:lnTo>
                <a:lnTo>
                  <a:pt x="1369014" y="330748"/>
                </a:lnTo>
                <a:lnTo>
                  <a:pt x="1359270" y="343916"/>
                </a:lnTo>
                <a:lnTo>
                  <a:pt x="1348845" y="357311"/>
                </a:lnTo>
                <a:lnTo>
                  <a:pt x="1338421" y="370933"/>
                </a:lnTo>
                <a:lnTo>
                  <a:pt x="1327317" y="384782"/>
                </a:lnTo>
                <a:lnTo>
                  <a:pt x="1315760" y="398632"/>
                </a:lnTo>
                <a:lnTo>
                  <a:pt x="1303750" y="412935"/>
                </a:lnTo>
                <a:lnTo>
                  <a:pt x="1291513" y="426784"/>
                </a:lnTo>
                <a:lnTo>
                  <a:pt x="1278823" y="441314"/>
                </a:lnTo>
                <a:lnTo>
                  <a:pt x="1265679" y="455390"/>
                </a:lnTo>
                <a:lnTo>
                  <a:pt x="1252082" y="469920"/>
                </a:lnTo>
                <a:lnTo>
                  <a:pt x="1233500" y="488991"/>
                </a:lnTo>
                <a:lnTo>
                  <a:pt x="1214465" y="507608"/>
                </a:lnTo>
                <a:lnTo>
                  <a:pt x="1195430" y="525998"/>
                </a:lnTo>
                <a:lnTo>
                  <a:pt x="1175715" y="543707"/>
                </a:lnTo>
                <a:lnTo>
                  <a:pt x="1156226" y="560961"/>
                </a:lnTo>
                <a:lnTo>
                  <a:pt x="1136058" y="577762"/>
                </a:lnTo>
                <a:lnTo>
                  <a:pt x="1115663" y="594336"/>
                </a:lnTo>
                <a:lnTo>
                  <a:pt x="1095041" y="610455"/>
                </a:lnTo>
                <a:lnTo>
                  <a:pt x="1074193" y="625893"/>
                </a:lnTo>
                <a:lnTo>
                  <a:pt x="1053118" y="641105"/>
                </a:lnTo>
                <a:lnTo>
                  <a:pt x="1031590" y="655408"/>
                </a:lnTo>
                <a:lnTo>
                  <a:pt x="1010062" y="669711"/>
                </a:lnTo>
                <a:lnTo>
                  <a:pt x="988081" y="683333"/>
                </a:lnTo>
                <a:lnTo>
                  <a:pt x="966099" y="696501"/>
                </a:lnTo>
                <a:lnTo>
                  <a:pt x="943891" y="709442"/>
                </a:lnTo>
                <a:lnTo>
                  <a:pt x="921004" y="721702"/>
                </a:lnTo>
                <a:lnTo>
                  <a:pt x="906954" y="729194"/>
                </a:lnTo>
                <a:lnTo>
                  <a:pt x="892451" y="736232"/>
                </a:lnTo>
                <a:lnTo>
                  <a:pt x="878174" y="743497"/>
                </a:lnTo>
                <a:lnTo>
                  <a:pt x="863671" y="750309"/>
                </a:lnTo>
                <a:lnTo>
                  <a:pt x="848941" y="756893"/>
                </a:lnTo>
                <a:lnTo>
                  <a:pt x="834212" y="763477"/>
                </a:lnTo>
                <a:lnTo>
                  <a:pt x="819482" y="769834"/>
                </a:lnTo>
                <a:lnTo>
                  <a:pt x="804526" y="775736"/>
                </a:lnTo>
                <a:lnTo>
                  <a:pt x="789569" y="781866"/>
                </a:lnTo>
                <a:lnTo>
                  <a:pt x="774613" y="787542"/>
                </a:lnTo>
                <a:lnTo>
                  <a:pt x="759430" y="793218"/>
                </a:lnTo>
                <a:lnTo>
                  <a:pt x="744247" y="798440"/>
                </a:lnTo>
                <a:lnTo>
                  <a:pt x="729064" y="803435"/>
                </a:lnTo>
                <a:lnTo>
                  <a:pt x="713655" y="808657"/>
                </a:lnTo>
                <a:lnTo>
                  <a:pt x="698472" y="813197"/>
                </a:lnTo>
                <a:lnTo>
                  <a:pt x="682609" y="817965"/>
                </a:lnTo>
                <a:lnTo>
                  <a:pt x="667199" y="822279"/>
                </a:lnTo>
                <a:lnTo>
                  <a:pt x="651563" y="826365"/>
                </a:lnTo>
                <a:lnTo>
                  <a:pt x="635701" y="830452"/>
                </a:lnTo>
                <a:lnTo>
                  <a:pt x="620064" y="834084"/>
                </a:lnTo>
                <a:lnTo>
                  <a:pt x="604202" y="837717"/>
                </a:lnTo>
                <a:lnTo>
                  <a:pt x="588112" y="841350"/>
                </a:lnTo>
                <a:lnTo>
                  <a:pt x="572249" y="844528"/>
                </a:lnTo>
                <a:lnTo>
                  <a:pt x="555933" y="847479"/>
                </a:lnTo>
                <a:lnTo>
                  <a:pt x="539618" y="850431"/>
                </a:lnTo>
                <a:lnTo>
                  <a:pt x="523528" y="852928"/>
                </a:lnTo>
                <a:lnTo>
                  <a:pt x="507212" y="855653"/>
                </a:lnTo>
                <a:lnTo>
                  <a:pt x="490896" y="857923"/>
                </a:lnTo>
                <a:lnTo>
                  <a:pt x="474353" y="859966"/>
                </a:lnTo>
                <a:lnTo>
                  <a:pt x="458037" y="861783"/>
                </a:lnTo>
                <a:lnTo>
                  <a:pt x="441268" y="863372"/>
                </a:lnTo>
                <a:lnTo>
                  <a:pt x="424726" y="864961"/>
                </a:lnTo>
                <a:lnTo>
                  <a:pt x="419287" y="865188"/>
                </a:lnTo>
                <a:lnTo>
                  <a:pt x="414075" y="864734"/>
                </a:lnTo>
                <a:lnTo>
                  <a:pt x="409089" y="863826"/>
                </a:lnTo>
                <a:lnTo>
                  <a:pt x="404104" y="862464"/>
                </a:lnTo>
                <a:lnTo>
                  <a:pt x="400252" y="861329"/>
                </a:lnTo>
                <a:lnTo>
                  <a:pt x="396626" y="859739"/>
                </a:lnTo>
                <a:lnTo>
                  <a:pt x="393227" y="857923"/>
                </a:lnTo>
                <a:lnTo>
                  <a:pt x="389827" y="855880"/>
                </a:lnTo>
                <a:lnTo>
                  <a:pt x="386882" y="853609"/>
                </a:lnTo>
                <a:lnTo>
                  <a:pt x="383936" y="850885"/>
                </a:lnTo>
                <a:lnTo>
                  <a:pt x="381216" y="848161"/>
                </a:lnTo>
                <a:lnTo>
                  <a:pt x="378497" y="845209"/>
                </a:lnTo>
                <a:lnTo>
                  <a:pt x="376231" y="842258"/>
                </a:lnTo>
                <a:lnTo>
                  <a:pt x="374191" y="838852"/>
                </a:lnTo>
                <a:lnTo>
                  <a:pt x="372378" y="835447"/>
                </a:lnTo>
                <a:lnTo>
                  <a:pt x="370566" y="831814"/>
                </a:lnTo>
                <a:lnTo>
                  <a:pt x="369206" y="827955"/>
                </a:lnTo>
                <a:lnTo>
                  <a:pt x="368299" y="824095"/>
                </a:lnTo>
                <a:lnTo>
                  <a:pt x="367620" y="820008"/>
                </a:lnTo>
                <a:lnTo>
                  <a:pt x="366940" y="815922"/>
                </a:lnTo>
                <a:lnTo>
                  <a:pt x="366713" y="810473"/>
                </a:lnTo>
                <a:lnTo>
                  <a:pt x="367167" y="805024"/>
                </a:lnTo>
                <a:lnTo>
                  <a:pt x="368073" y="799802"/>
                </a:lnTo>
                <a:lnTo>
                  <a:pt x="369206" y="795034"/>
                </a:lnTo>
                <a:lnTo>
                  <a:pt x="371472" y="790040"/>
                </a:lnTo>
                <a:lnTo>
                  <a:pt x="373738" y="785272"/>
                </a:lnTo>
                <a:lnTo>
                  <a:pt x="376231" y="780958"/>
                </a:lnTo>
                <a:lnTo>
                  <a:pt x="379403" y="776872"/>
                </a:lnTo>
                <a:lnTo>
                  <a:pt x="383029" y="773239"/>
                </a:lnTo>
                <a:lnTo>
                  <a:pt x="386882" y="769607"/>
                </a:lnTo>
                <a:lnTo>
                  <a:pt x="390961" y="766882"/>
                </a:lnTo>
                <a:lnTo>
                  <a:pt x="395266" y="763931"/>
                </a:lnTo>
                <a:lnTo>
                  <a:pt x="400252" y="761887"/>
                </a:lnTo>
                <a:lnTo>
                  <a:pt x="405237" y="760071"/>
                </a:lnTo>
                <a:lnTo>
                  <a:pt x="410222" y="758709"/>
                </a:lnTo>
                <a:lnTo>
                  <a:pt x="415661" y="758255"/>
                </a:lnTo>
                <a:lnTo>
                  <a:pt x="431071" y="756666"/>
                </a:lnTo>
                <a:lnTo>
                  <a:pt x="446027" y="755076"/>
                </a:lnTo>
                <a:lnTo>
                  <a:pt x="461210" y="753714"/>
                </a:lnTo>
                <a:lnTo>
                  <a:pt x="476166" y="751898"/>
                </a:lnTo>
                <a:lnTo>
                  <a:pt x="491123" y="749854"/>
                </a:lnTo>
                <a:lnTo>
                  <a:pt x="506079" y="747357"/>
                </a:lnTo>
                <a:lnTo>
                  <a:pt x="521035" y="745087"/>
                </a:lnTo>
                <a:lnTo>
                  <a:pt x="535765" y="742589"/>
                </a:lnTo>
                <a:lnTo>
                  <a:pt x="550495" y="739638"/>
                </a:lnTo>
                <a:lnTo>
                  <a:pt x="565224" y="736913"/>
                </a:lnTo>
                <a:lnTo>
                  <a:pt x="579728" y="733735"/>
                </a:lnTo>
                <a:lnTo>
                  <a:pt x="594231" y="730329"/>
                </a:lnTo>
                <a:lnTo>
                  <a:pt x="608734" y="726697"/>
                </a:lnTo>
                <a:lnTo>
                  <a:pt x="623010" y="723064"/>
                </a:lnTo>
                <a:lnTo>
                  <a:pt x="637287" y="719432"/>
                </a:lnTo>
                <a:lnTo>
                  <a:pt x="651563" y="715345"/>
                </a:lnTo>
                <a:lnTo>
                  <a:pt x="665613" y="711259"/>
                </a:lnTo>
                <a:lnTo>
                  <a:pt x="679890" y="706945"/>
                </a:lnTo>
                <a:lnTo>
                  <a:pt x="693713" y="702404"/>
                </a:lnTo>
                <a:lnTo>
                  <a:pt x="707763" y="697864"/>
                </a:lnTo>
                <a:lnTo>
                  <a:pt x="721586" y="692869"/>
                </a:lnTo>
                <a:lnTo>
                  <a:pt x="735183" y="687874"/>
                </a:lnTo>
                <a:lnTo>
                  <a:pt x="749233" y="682652"/>
                </a:lnTo>
                <a:lnTo>
                  <a:pt x="762603" y="677430"/>
                </a:lnTo>
                <a:lnTo>
                  <a:pt x="776199" y="671755"/>
                </a:lnTo>
                <a:lnTo>
                  <a:pt x="789569" y="666079"/>
                </a:lnTo>
                <a:lnTo>
                  <a:pt x="803166" y="660176"/>
                </a:lnTo>
                <a:lnTo>
                  <a:pt x="816536" y="654273"/>
                </a:lnTo>
                <a:lnTo>
                  <a:pt x="829679" y="648143"/>
                </a:lnTo>
                <a:lnTo>
                  <a:pt x="842823" y="641559"/>
                </a:lnTo>
                <a:lnTo>
                  <a:pt x="855966" y="634975"/>
                </a:lnTo>
                <a:lnTo>
                  <a:pt x="868883" y="628164"/>
                </a:lnTo>
                <a:lnTo>
                  <a:pt x="889505" y="617039"/>
                </a:lnTo>
                <a:lnTo>
                  <a:pt x="910126" y="605460"/>
                </a:lnTo>
                <a:lnTo>
                  <a:pt x="930068" y="593655"/>
                </a:lnTo>
                <a:lnTo>
                  <a:pt x="950237" y="580941"/>
                </a:lnTo>
                <a:lnTo>
                  <a:pt x="970178" y="568000"/>
                </a:lnTo>
                <a:lnTo>
                  <a:pt x="989667" y="554832"/>
                </a:lnTo>
                <a:lnTo>
                  <a:pt x="1008929" y="540982"/>
                </a:lnTo>
                <a:lnTo>
                  <a:pt x="1027964" y="526906"/>
                </a:lnTo>
                <a:lnTo>
                  <a:pt x="1046773" y="512149"/>
                </a:lnTo>
                <a:lnTo>
                  <a:pt x="1065355" y="497165"/>
                </a:lnTo>
                <a:lnTo>
                  <a:pt x="1083937" y="481726"/>
                </a:lnTo>
                <a:lnTo>
                  <a:pt x="1102066" y="466061"/>
                </a:lnTo>
                <a:lnTo>
                  <a:pt x="1119742" y="449714"/>
                </a:lnTo>
                <a:lnTo>
                  <a:pt x="1137644" y="433141"/>
                </a:lnTo>
                <a:lnTo>
                  <a:pt x="1154866" y="416113"/>
                </a:lnTo>
                <a:lnTo>
                  <a:pt x="1171862" y="398859"/>
                </a:lnTo>
                <a:lnTo>
                  <a:pt x="1184779" y="385236"/>
                </a:lnTo>
                <a:lnTo>
                  <a:pt x="1197469" y="371841"/>
                </a:lnTo>
                <a:lnTo>
                  <a:pt x="1209480" y="358219"/>
                </a:lnTo>
                <a:lnTo>
                  <a:pt x="1221037" y="344597"/>
                </a:lnTo>
                <a:lnTo>
                  <a:pt x="1232367" y="331429"/>
                </a:lnTo>
                <a:lnTo>
                  <a:pt x="1243245" y="318261"/>
                </a:lnTo>
                <a:lnTo>
                  <a:pt x="1253895" y="305093"/>
                </a:lnTo>
                <a:lnTo>
                  <a:pt x="1263866" y="292606"/>
                </a:lnTo>
                <a:lnTo>
                  <a:pt x="1273384" y="279665"/>
                </a:lnTo>
                <a:lnTo>
                  <a:pt x="1282675" y="267178"/>
                </a:lnTo>
                <a:lnTo>
                  <a:pt x="1291739" y="255145"/>
                </a:lnTo>
                <a:lnTo>
                  <a:pt x="1300124" y="242886"/>
                </a:lnTo>
                <a:lnTo>
                  <a:pt x="1308282" y="231307"/>
                </a:lnTo>
                <a:lnTo>
                  <a:pt x="1316213" y="219728"/>
                </a:lnTo>
                <a:lnTo>
                  <a:pt x="1330263" y="197706"/>
                </a:lnTo>
                <a:lnTo>
                  <a:pt x="1107958" y="281027"/>
                </a:lnTo>
                <a:lnTo>
                  <a:pt x="1102746" y="282390"/>
                </a:lnTo>
                <a:lnTo>
                  <a:pt x="1097534" y="283525"/>
                </a:lnTo>
                <a:lnTo>
                  <a:pt x="1092322" y="283979"/>
                </a:lnTo>
                <a:lnTo>
                  <a:pt x="1087110" y="283979"/>
                </a:lnTo>
                <a:lnTo>
                  <a:pt x="1081898" y="283752"/>
                </a:lnTo>
                <a:lnTo>
                  <a:pt x="1076686" y="282844"/>
                </a:lnTo>
                <a:lnTo>
                  <a:pt x="1071927" y="281255"/>
                </a:lnTo>
                <a:lnTo>
                  <a:pt x="1067168" y="279438"/>
                </a:lnTo>
                <a:lnTo>
                  <a:pt x="1062636" y="277168"/>
                </a:lnTo>
                <a:lnTo>
                  <a:pt x="1058103" y="274216"/>
                </a:lnTo>
                <a:lnTo>
                  <a:pt x="1054251" y="270811"/>
                </a:lnTo>
                <a:lnTo>
                  <a:pt x="1050399" y="267178"/>
                </a:lnTo>
                <a:lnTo>
                  <a:pt x="1047226" y="263319"/>
                </a:lnTo>
                <a:lnTo>
                  <a:pt x="1044054" y="259005"/>
                </a:lnTo>
                <a:lnTo>
                  <a:pt x="1041561" y="254237"/>
                </a:lnTo>
                <a:lnTo>
                  <a:pt x="1039295" y="249470"/>
                </a:lnTo>
                <a:lnTo>
                  <a:pt x="1037482" y="244021"/>
                </a:lnTo>
                <a:lnTo>
                  <a:pt x="1036575" y="238799"/>
                </a:lnTo>
                <a:lnTo>
                  <a:pt x="1036122" y="233350"/>
                </a:lnTo>
                <a:lnTo>
                  <a:pt x="1036122" y="228355"/>
                </a:lnTo>
                <a:lnTo>
                  <a:pt x="1036349" y="223134"/>
                </a:lnTo>
                <a:lnTo>
                  <a:pt x="1037255" y="218139"/>
                </a:lnTo>
                <a:lnTo>
                  <a:pt x="1038841" y="213144"/>
                </a:lnTo>
                <a:lnTo>
                  <a:pt x="1040654" y="208376"/>
                </a:lnTo>
                <a:lnTo>
                  <a:pt x="1042920" y="203836"/>
                </a:lnTo>
                <a:lnTo>
                  <a:pt x="1045866" y="199295"/>
                </a:lnTo>
                <a:lnTo>
                  <a:pt x="1049266" y="195435"/>
                </a:lnTo>
                <a:lnTo>
                  <a:pt x="1052891" y="191576"/>
                </a:lnTo>
                <a:lnTo>
                  <a:pt x="1056744" y="188170"/>
                </a:lnTo>
                <a:lnTo>
                  <a:pt x="1061049" y="185219"/>
                </a:lnTo>
                <a:lnTo>
                  <a:pt x="1065582" y="182494"/>
                </a:lnTo>
                <a:lnTo>
                  <a:pt x="1070567" y="180451"/>
                </a:lnTo>
                <a:lnTo>
                  <a:pt x="1443569" y="41279"/>
                </a:lnTo>
                <a:lnTo>
                  <a:pt x="1446288" y="40370"/>
                </a:lnTo>
                <a:lnTo>
                  <a:pt x="1449461" y="39462"/>
                </a:lnTo>
                <a:lnTo>
                  <a:pt x="1452633" y="38781"/>
                </a:lnTo>
                <a:lnTo>
                  <a:pt x="1455579" y="38327"/>
                </a:lnTo>
                <a:lnTo>
                  <a:pt x="1458752" y="38100"/>
                </a:lnTo>
                <a:close/>
                <a:moveTo>
                  <a:pt x="102528" y="0"/>
                </a:moveTo>
                <a:lnTo>
                  <a:pt x="107971" y="454"/>
                </a:lnTo>
                <a:lnTo>
                  <a:pt x="113189" y="681"/>
                </a:lnTo>
                <a:lnTo>
                  <a:pt x="118406" y="1361"/>
                </a:lnTo>
                <a:lnTo>
                  <a:pt x="123169" y="2268"/>
                </a:lnTo>
                <a:lnTo>
                  <a:pt x="128386" y="3403"/>
                </a:lnTo>
                <a:lnTo>
                  <a:pt x="133376" y="4764"/>
                </a:lnTo>
                <a:lnTo>
                  <a:pt x="137913" y="6578"/>
                </a:lnTo>
                <a:lnTo>
                  <a:pt x="142450" y="8393"/>
                </a:lnTo>
                <a:lnTo>
                  <a:pt x="147213" y="10434"/>
                </a:lnTo>
                <a:lnTo>
                  <a:pt x="151523" y="12476"/>
                </a:lnTo>
                <a:lnTo>
                  <a:pt x="156059" y="14971"/>
                </a:lnTo>
                <a:lnTo>
                  <a:pt x="160143" y="17693"/>
                </a:lnTo>
                <a:lnTo>
                  <a:pt x="164225" y="20642"/>
                </a:lnTo>
                <a:lnTo>
                  <a:pt x="168082" y="23590"/>
                </a:lnTo>
                <a:lnTo>
                  <a:pt x="171711" y="26993"/>
                </a:lnTo>
                <a:lnTo>
                  <a:pt x="175340" y="30169"/>
                </a:lnTo>
                <a:lnTo>
                  <a:pt x="178743" y="33798"/>
                </a:lnTo>
                <a:lnTo>
                  <a:pt x="181918" y="37427"/>
                </a:lnTo>
                <a:lnTo>
                  <a:pt x="185094" y="41510"/>
                </a:lnTo>
                <a:lnTo>
                  <a:pt x="188043" y="45593"/>
                </a:lnTo>
                <a:lnTo>
                  <a:pt x="190538" y="49676"/>
                </a:lnTo>
                <a:lnTo>
                  <a:pt x="193033" y="53986"/>
                </a:lnTo>
                <a:lnTo>
                  <a:pt x="195074" y="58296"/>
                </a:lnTo>
                <a:lnTo>
                  <a:pt x="197343" y="63059"/>
                </a:lnTo>
                <a:lnTo>
                  <a:pt x="199157" y="67596"/>
                </a:lnTo>
                <a:lnTo>
                  <a:pt x="200745" y="72359"/>
                </a:lnTo>
                <a:lnTo>
                  <a:pt x="202106" y="77122"/>
                </a:lnTo>
                <a:lnTo>
                  <a:pt x="203467" y="82340"/>
                </a:lnTo>
                <a:lnTo>
                  <a:pt x="204148" y="87330"/>
                </a:lnTo>
                <a:lnTo>
                  <a:pt x="205055" y="92320"/>
                </a:lnTo>
                <a:lnTo>
                  <a:pt x="205282" y="97537"/>
                </a:lnTo>
                <a:lnTo>
                  <a:pt x="205509" y="102981"/>
                </a:lnTo>
                <a:lnTo>
                  <a:pt x="205509" y="2092965"/>
                </a:lnTo>
                <a:lnTo>
                  <a:pt x="2195719" y="2092965"/>
                </a:lnTo>
                <a:lnTo>
                  <a:pt x="2201163" y="2093192"/>
                </a:lnTo>
                <a:lnTo>
                  <a:pt x="2206380" y="2093419"/>
                </a:lnTo>
                <a:lnTo>
                  <a:pt x="2211597" y="2094326"/>
                </a:lnTo>
                <a:lnTo>
                  <a:pt x="2216587" y="2095233"/>
                </a:lnTo>
                <a:lnTo>
                  <a:pt x="2221578" y="2096367"/>
                </a:lnTo>
                <a:lnTo>
                  <a:pt x="2226568" y="2097501"/>
                </a:lnTo>
                <a:lnTo>
                  <a:pt x="2231105" y="2099316"/>
                </a:lnTo>
                <a:lnTo>
                  <a:pt x="2235868" y="2101131"/>
                </a:lnTo>
                <a:lnTo>
                  <a:pt x="2240405" y="2103172"/>
                </a:lnTo>
                <a:lnTo>
                  <a:pt x="2244714" y="2105667"/>
                </a:lnTo>
                <a:lnTo>
                  <a:pt x="2249251" y="2107936"/>
                </a:lnTo>
                <a:lnTo>
                  <a:pt x="2253334" y="2110658"/>
                </a:lnTo>
                <a:lnTo>
                  <a:pt x="2257417" y="2113606"/>
                </a:lnTo>
                <a:lnTo>
                  <a:pt x="2261273" y="2116328"/>
                </a:lnTo>
                <a:lnTo>
                  <a:pt x="2264902" y="2119731"/>
                </a:lnTo>
                <a:lnTo>
                  <a:pt x="2268532" y="2123133"/>
                </a:lnTo>
                <a:lnTo>
                  <a:pt x="2271934" y="2126763"/>
                </a:lnTo>
                <a:lnTo>
                  <a:pt x="2275337" y="2130619"/>
                </a:lnTo>
                <a:lnTo>
                  <a:pt x="2278285" y="2134475"/>
                </a:lnTo>
                <a:lnTo>
                  <a:pt x="2281234" y="2138331"/>
                </a:lnTo>
                <a:lnTo>
                  <a:pt x="2283729" y="2142414"/>
                </a:lnTo>
                <a:lnTo>
                  <a:pt x="2286224" y="2146724"/>
                </a:lnTo>
                <a:lnTo>
                  <a:pt x="2288720" y="2151260"/>
                </a:lnTo>
                <a:lnTo>
                  <a:pt x="2290761" y="2155797"/>
                </a:lnTo>
                <a:lnTo>
                  <a:pt x="2292576" y="2160560"/>
                </a:lnTo>
                <a:lnTo>
                  <a:pt x="2294164" y="2165324"/>
                </a:lnTo>
                <a:lnTo>
                  <a:pt x="2295298" y="2170087"/>
                </a:lnTo>
                <a:lnTo>
                  <a:pt x="2296659" y="2175304"/>
                </a:lnTo>
                <a:lnTo>
                  <a:pt x="2297339" y="2180068"/>
                </a:lnTo>
                <a:lnTo>
                  <a:pt x="2298246" y="2185285"/>
                </a:lnTo>
                <a:lnTo>
                  <a:pt x="2298473" y="2190729"/>
                </a:lnTo>
                <a:lnTo>
                  <a:pt x="2298700" y="2195946"/>
                </a:lnTo>
                <a:lnTo>
                  <a:pt x="2298473" y="2201163"/>
                </a:lnTo>
                <a:lnTo>
                  <a:pt x="2298246" y="2206380"/>
                </a:lnTo>
                <a:lnTo>
                  <a:pt x="2297339" y="2211597"/>
                </a:lnTo>
                <a:lnTo>
                  <a:pt x="2296659" y="2216361"/>
                </a:lnTo>
                <a:lnTo>
                  <a:pt x="2295298" y="2221578"/>
                </a:lnTo>
                <a:lnTo>
                  <a:pt x="2294164" y="2226568"/>
                </a:lnTo>
                <a:lnTo>
                  <a:pt x="2292576" y="2231105"/>
                </a:lnTo>
                <a:lnTo>
                  <a:pt x="2290761" y="2235868"/>
                </a:lnTo>
                <a:lnTo>
                  <a:pt x="2288720" y="2240405"/>
                </a:lnTo>
                <a:lnTo>
                  <a:pt x="2286224" y="2244941"/>
                </a:lnTo>
                <a:lnTo>
                  <a:pt x="2283729" y="2249251"/>
                </a:lnTo>
                <a:lnTo>
                  <a:pt x="2281234" y="2253334"/>
                </a:lnTo>
                <a:lnTo>
                  <a:pt x="2278285" y="2257417"/>
                </a:lnTo>
                <a:lnTo>
                  <a:pt x="2275337" y="2261273"/>
                </a:lnTo>
                <a:lnTo>
                  <a:pt x="2271934" y="2264902"/>
                </a:lnTo>
                <a:lnTo>
                  <a:pt x="2268532" y="2268532"/>
                </a:lnTo>
                <a:lnTo>
                  <a:pt x="2264902" y="2271934"/>
                </a:lnTo>
                <a:lnTo>
                  <a:pt x="2261273" y="2275337"/>
                </a:lnTo>
                <a:lnTo>
                  <a:pt x="2257417" y="2278059"/>
                </a:lnTo>
                <a:lnTo>
                  <a:pt x="2253334" y="2281234"/>
                </a:lnTo>
                <a:lnTo>
                  <a:pt x="2249251" y="2283729"/>
                </a:lnTo>
                <a:lnTo>
                  <a:pt x="2244714" y="2286451"/>
                </a:lnTo>
                <a:lnTo>
                  <a:pt x="2240405" y="2288493"/>
                </a:lnTo>
                <a:lnTo>
                  <a:pt x="2235868" y="2290534"/>
                </a:lnTo>
                <a:lnTo>
                  <a:pt x="2231105" y="2292349"/>
                </a:lnTo>
                <a:lnTo>
                  <a:pt x="2226568" y="2294164"/>
                </a:lnTo>
                <a:lnTo>
                  <a:pt x="2221578" y="2295298"/>
                </a:lnTo>
                <a:lnTo>
                  <a:pt x="2216587" y="2296659"/>
                </a:lnTo>
                <a:lnTo>
                  <a:pt x="2211597" y="2297566"/>
                </a:lnTo>
                <a:lnTo>
                  <a:pt x="2206380" y="2298246"/>
                </a:lnTo>
                <a:lnTo>
                  <a:pt x="2201163" y="2298473"/>
                </a:lnTo>
                <a:lnTo>
                  <a:pt x="2195719" y="2298700"/>
                </a:lnTo>
                <a:lnTo>
                  <a:pt x="102528" y="2298700"/>
                </a:lnTo>
                <a:lnTo>
                  <a:pt x="97310" y="2298473"/>
                </a:lnTo>
                <a:lnTo>
                  <a:pt x="92093" y="2298246"/>
                </a:lnTo>
                <a:lnTo>
                  <a:pt x="86876" y="2297566"/>
                </a:lnTo>
                <a:lnTo>
                  <a:pt x="81886" y="2296659"/>
                </a:lnTo>
                <a:lnTo>
                  <a:pt x="77122" y="2295298"/>
                </a:lnTo>
                <a:lnTo>
                  <a:pt x="72132" y="2294164"/>
                </a:lnTo>
                <a:lnTo>
                  <a:pt x="67142" y="2292349"/>
                </a:lnTo>
                <a:lnTo>
                  <a:pt x="62605" y="2290534"/>
                </a:lnTo>
                <a:lnTo>
                  <a:pt x="57842" y="2288493"/>
                </a:lnTo>
                <a:lnTo>
                  <a:pt x="53532" y="2286451"/>
                </a:lnTo>
                <a:lnTo>
                  <a:pt x="49449" y="2283729"/>
                </a:lnTo>
                <a:lnTo>
                  <a:pt x="45139" y="2281234"/>
                </a:lnTo>
                <a:lnTo>
                  <a:pt x="41283" y="2278059"/>
                </a:lnTo>
                <a:lnTo>
                  <a:pt x="37200" y="2275337"/>
                </a:lnTo>
                <a:lnTo>
                  <a:pt x="33344" y="2271934"/>
                </a:lnTo>
                <a:lnTo>
                  <a:pt x="29715" y="2268532"/>
                </a:lnTo>
                <a:lnTo>
                  <a:pt x="26539" y="2264902"/>
                </a:lnTo>
                <a:lnTo>
                  <a:pt x="23364" y="2261273"/>
                </a:lnTo>
                <a:lnTo>
                  <a:pt x="20188" y="2257417"/>
                </a:lnTo>
                <a:lnTo>
                  <a:pt x="17466" y="2253334"/>
                </a:lnTo>
                <a:lnTo>
                  <a:pt x="14517" y="2249251"/>
                </a:lnTo>
                <a:lnTo>
                  <a:pt x="12249" y="2244941"/>
                </a:lnTo>
                <a:lnTo>
                  <a:pt x="9981" y="2240405"/>
                </a:lnTo>
                <a:lnTo>
                  <a:pt x="7939" y="2235868"/>
                </a:lnTo>
                <a:lnTo>
                  <a:pt x="6125" y="2231105"/>
                </a:lnTo>
                <a:lnTo>
                  <a:pt x="4537" y="2226568"/>
                </a:lnTo>
                <a:lnTo>
                  <a:pt x="2949" y="2221578"/>
                </a:lnTo>
                <a:lnTo>
                  <a:pt x="2042" y="2216361"/>
                </a:lnTo>
                <a:lnTo>
                  <a:pt x="907" y="2211597"/>
                </a:lnTo>
                <a:lnTo>
                  <a:pt x="454" y="2206380"/>
                </a:lnTo>
                <a:lnTo>
                  <a:pt x="0" y="2201163"/>
                </a:lnTo>
                <a:lnTo>
                  <a:pt x="0" y="2195946"/>
                </a:lnTo>
                <a:lnTo>
                  <a:pt x="0" y="102981"/>
                </a:lnTo>
                <a:lnTo>
                  <a:pt x="0" y="97537"/>
                </a:lnTo>
                <a:lnTo>
                  <a:pt x="454" y="92320"/>
                </a:lnTo>
                <a:lnTo>
                  <a:pt x="907" y="87330"/>
                </a:lnTo>
                <a:lnTo>
                  <a:pt x="2042" y="82340"/>
                </a:lnTo>
                <a:lnTo>
                  <a:pt x="2949" y="77122"/>
                </a:lnTo>
                <a:lnTo>
                  <a:pt x="4537" y="72359"/>
                </a:lnTo>
                <a:lnTo>
                  <a:pt x="6125" y="67596"/>
                </a:lnTo>
                <a:lnTo>
                  <a:pt x="7939" y="63059"/>
                </a:lnTo>
                <a:lnTo>
                  <a:pt x="9981" y="58296"/>
                </a:lnTo>
                <a:lnTo>
                  <a:pt x="12249" y="53986"/>
                </a:lnTo>
                <a:lnTo>
                  <a:pt x="14517" y="49676"/>
                </a:lnTo>
                <a:lnTo>
                  <a:pt x="17466" y="45593"/>
                </a:lnTo>
                <a:lnTo>
                  <a:pt x="20188" y="41510"/>
                </a:lnTo>
                <a:lnTo>
                  <a:pt x="23364" y="37427"/>
                </a:lnTo>
                <a:lnTo>
                  <a:pt x="26539" y="33798"/>
                </a:lnTo>
                <a:lnTo>
                  <a:pt x="29715" y="30169"/>
                </a:lnTo>
                <a:lnTo>
                  <a:pt x="33344" y="26993"/>
                </a:lnTo>
                <a:lnTo>
                  <a:pt x="37200" y="23590"/>
                </a:lnTo>
                <a:lnTo>
                  <a:pt x="41283" y="20642"/>
                </a:lnTo>
                <a:lnTo>
                  <a:pt x="45139" y="17693"/>
                </a:lnTo>
                <a:lnTo>
                  <a:pt x="49449" y="14971"/>
                </a:lnTo>
                <a:lnTo>
                  <a:pt x="53532" y="12476"/>
                </a:lnTo>
                <a:lnTo>
                  <a:pt x="57842" y="10434"/>
                </a:lnTo>
                <a:lnTo>
                  <a:pt x="62605" y="8393"/>
                </a:lnTo>
                <a:lnTo>
                  <a:pt x="67142" y="6578"/>
                </a:lnTo>
                <a:lnTo>
                  <a:pt x="72132" y="4764"/>
                </a:lnTo>
                <a:lnTo>
                  <a:pt x="77122" y="3403"/>
                </a:lnTo>
                <a:lnTo>
                  <a:pt x="81886" y="2268"/>
                </a:lnTo>
                <a:lnTo>
                  <a:pt x="86876" y="1361"/>
                </a:lnTo>
                <a:lnTo>
                  <a:pt x="92093" y="681"/>
                </a:lnTo>
                <a:lnTo>
                  <a:pt x="97310" y="454"/>
                </a:lnTo>
                <a:lnTo>
                  <a:pt x="1025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24" name="文本框 15"/>
          <p:cNvSpPr txBox="1"/>
          <p:nvPr/>
        </p:nvSpPr>
        <p:spPr>
          <a:xfrm>
            <a:off x="95306" y="278650"/>
            <a:ext cx="2261711" cy="3454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改进方向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744529" y="846857"/>
            <a:ext cx="22402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探测火箭的回收机制</a:t>
            </a:r>
          </a:p>
        </p:txBody>
      </p:sp>
      <p:sp>
        <p:nvSpPr>
          <p:cNvPr id="4" name="矩形 3"/>
          <p:cNvSpPr/>
          <p:nvPr/>
        </p:nvSpPr>
        <p:spPr>
          <a:xfrm>
            <a:off x="2791519" y="2918738"/>
            <a:ext cx="178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测控算法的完善</a:t>
            </a:r>
          </a:p>
        </p:txBody>
      </p:sp>
      <p:sp>
        <p:nvSpPr>
          <p:cNvPr id="7" name="矩形 6"/>
          <p:cNvSpPr/>
          <p:nvPr/>
        </p:nvSpPr>
        <p:spPr>
          <a:xfrm>
            <a:off x="2746918" y="1090575"/>
            <a:ext cx="5711281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为降低火箭气象探测的成本，该系统应具有可靠的回收机制，开伞回收不适用于大风雷雨等</a:t>
            </a:r>
            <a:r>
              <a:rPr lang="zh-CN" altLang="en-US" sz="12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恶劣的气象条件</a:t>
            </a:r>
            <a:r>
              <a:rPr lang="zh-CN" altLang="en-US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，应改进探测火箭的回收机制，探寻</a:t>
            </a:r>
            <a:r>
              <a:rPr lang="zh-CN" altLang="en-US" sz="12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“一箭多用”</a:t>
            </a:r>
            <a:r>
              <a:rPr lang="zh-CN" altLang="en-US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的更多可能性</a:t>
            </a:r>
          </a:p>
        </p:txBody>
      </p:sp>
      <p:sp>
        <p:nvSpPr>
          <p:cNvPr id="9" name="矩形 8"/>
          <p:cNvSpPr/>
          <p:nvPr/>
        </p:nvSpPr>
        <p:spPr>
          <a:xfrm>
            <a:off x="2744462" y="3199735"/>
            <a:ext cx="571128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精确地测控制导依赖于测控算法，应深入学习惯性导航、</a:t>
            </a:r>
            <a:r>
              <a:rPr lang="en-US" altLang="zh-CN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PID</a:t>
            </a:r>
            <a:r>
              <a:rPr lang="zh-CN" altLang="en-US" sz="12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，卡尔曼滤波理论知识，将机器学习应用于火箭制导，完善火箭的测控算法，在气象灾害的探索道路上做好每一次导航</a:t>
            </a:r>
            <a:endParaRPr lang="zh-CN" altLang="en-US" sz="1200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椭圆 10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1"/>
          <p:cNvSpPr txBox="1"/>
          <p:nvPr/>
        </p:nvSpPr>
        <p:spPr>
          <a:xfrm>
            <a:off x="2305685" y="2709545"/>
            <a:ext cx="4548505" cy="5911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发展前景</a:t>
            </a:r>
          </a:p>
        </p:txBody>
      </p:sp>
      <p:sp>
        <p:nvSpPr>
          <p:cNvPr id="10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06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/>
      <p:bldP spid="1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H_Other_1"/>
          <p:cNvSpPr/>
          <p:nvPr/>
        </p:nvSpPr>
        <p:spPr>
          <a:xfrm>
            <a:off x="1725740" y="847141"/>
            <a:ext cx="858110" cy="8569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17" name="MH_Other_9"/>
          <p:cNvSpPr/>
          <p:nvPr/>
        </p:nvSpPr>
        <p:spPr bwMode="auto">
          <a:xfrm>
            <a:off x="1965009" y="1051761"/>
            <a:ext cx="442913" cy="401479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8" name="MH_Other_3"/>
          <p:cNvSpPr/>
          <p:nvPr/>
        </p:nvSpPr>
        <p:spPr>
          <a:xfrm>
            <a:off x="1686165" y="2933700"/>
            <a:ext cx="937088" cy="937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18" name="MH_Other_11"/>
          <p:cNvSpPr/>
          <p:nvPr/>
        </p:nvSpPr>
        <p:spPr bwMode="auto">
          <a:xfrm>
            <a:off x="1986662" y="3234197"/>
            <a:ext cx="336095" cy="336095"/>
          </a:xfrm>
          <a:custGeom>
            <a:avLst/>
            <a:gdLst>
              <a:gd name="T0" fmla="*/ 883582 w 2298700"/>
              <a:gd name="T1" fmla="*/ 1295872 h 2298700"/>
              <a:gd name="T2" fmla="*/ 899660 w 2298700"/>
              <a:gd name="T3" fmla="*/ 1824434 h 2298700"/>
              <a:gd name="T4" fmla="*/ 870674 w 2298700"/>
              <a:gd name="T5" fmla="*/ 1867800 h 2298700"/>
              <a:gd name="T6" fmla="*/ 472571 w 2298700"/>
              <a:gd name="T7" fmla="*/ 1870524 h 2298700"/>
              <a:gd name="T8" fmla="*/ 439282 w 2298700"/>
              <a:gd name="T9" fmla="*/ 1829883 h 2298700"/>
              <a:gd name="T10" fmla="*/ 450831 w 2298700"/>
              <a:gd name="T11" fmla="*/ 1299959 h 2298700"/>
              <a:gd name="T12" fmla="*/ 1168971 w 2298700"/>
              <a:gd name="T13" fmla="*/ 903287 h 2298700"/>
              <a:gd name="T14" fmla="*/ 1561900 w 2298700"/>
              <a:gd name="T15" fmla="*/ 923717 h 2298700"/>
              <a:gd name="T16" fmla="*/ 1573443 w 2298700"/>
              <a:gd name="T17" fmla="*/ 1829892 h 2298700"/>
              <a:gd name="T18" fmla="*/ 1540624 w 2298700"/>
              <a:gd name="T19" fmla="*/ 1870524 h 2298700"/>
              <a:gd name="T20" fmla="*/ 1142262 w 2298700"/>
              <a:gd name="T21" fmla="*/ 1867800 h 2298700"/>
              <a:gd name="T22" fmla="*/ 1113291 w 2298700"/>
              <a:gd name="T23" fmla="*/ 1824444 h 2298700"/>
              <a:gd name="T24" fmla="*/ 1129361 w 2298700"/>
              <a:gd name="T25" fmla="*/ 919404 h 2298700"/>
              <a:gd name="T26" fmla="*/ 2191940 w 2298700"/>
              <a:gd name="T27" fmla="*/ 450850 h 2298700"/>
              <a:gd name="T28" fmla="*/ 2238385 w 2298700"/>
              <a:gd name="T29" fmla="*/ 475582 h 2298700"/>
              <a:gd name="T30" fmla="*/ 2245636 w 2298700"/>
              <a:gd name="T31" fmla="*/ 1835358 h 2298700"/>
              <a:gd name="T32" fmla="*/ 2208706 w 2298700"/>
              <a:gd name="T33" fmla="*/ 1872115 h 2298700"/>
              <a:gd name="T34" fmla="*/ 1810633 w 2298700"/>
              <a:gd name="T35" fmla="*/ 1865309 h 2298700"/>
              <a:gd name="T36" fmla="*/ 1785938 w 2298700"/>
              <a:gd name="T37" fmla="*/ 1818568 h 2298700"/>
              <a:gd name="T38" fmla="*/ 1806329 w 2298700"/>
              <a:gd name="T39" fmla="*/ 463556 h 2298700"/>
              <a:gd name="T40" fmla="*/ 1464870 w 2298700"/>
              <a:gd name="T41" fmla="*/ 38100 h 2298700"/>
              <a:gd name="T42" fmla="*/ 1493876 w 2298700"/>
              <a:gd name="T43" fmla="*/ 48317 h 2298700"/>
              <a:gd name="T44" fmla="*/ 1512005 w 2298700"/>
              <a:gd name="T45" fmla="*/ 72609 h 2298700"/>
              <a:gd name="T46" fmla="*/ 1540105 w 2298700"/>
              <a:gd name="T47" fmla="*/ 509198 h 2298700"/>
              <a:gd name="T48" fmla="*/ 1503847 w 2298700"/>
              <a:gd name="T49" fmla="*/ 543253 h 2298700"/>
              <a:gd name="T50" fmla="*/ 1459205 w 2298700"/>
              <a:gd name="T51" fmla="*/ 535761 h 2298700"/>
              <a:gd name="T52" fmla="*/ 1437677 w 2298700"/>
              <a:gd name="T53" fmla="*/ 503749 h 2298700"/>
              <a:gd name="T54" fmla="*/ 1348845 w 2298700"/>
              <a:gd name="T55" fmla="*/ 357311 h 2298700"/>
              <a:gd name="T56" fmla="*/ 1214465 w 2298700"/>
              <a:gd name="T57" fmla="*/ 507608 h 2298700"/>
              <a:gd name="T58" fmla="*/ 1010062 w 2298700"/>
              <a:gd name="T59" fmla="*/ 669711 h 2298700"/>
              <a:gd name="T60" fmla="*/ 834212 w 2298700"/>
              <a:gd name="T61" fmla="*/ 763477 h 2298700"/>
              <a:gd name="T62" fmla="*/ 682609 w 2298700"/>
              <a:gd name="T63" fmla="*/ 817965 h 2298700"/>
              <a:gd name="T64" fmla="*/ 523528 w 2298700"/>
              <a:gd name="T65" fmla="*/ 852928 h 2298700"/>
              <a:gd name="T66" fmla="*/ 404104 w 2298700"/>
              <a:gd name="T67" fmla="*/ 862464 h 2298700"/>
              <a:gd name="T68" fmla="*/ 374191 w 2298700"/>
              <a:gd name="T69" fmla="*/ 838852 h 2298700"/>
              <a:gd name="T70" fmla="*/ 369206 w 2298700"/>
              <a:gd name="T71" fmla="*/ 795034 h 2298700"/>
              <a:gd name="T72" fmla="*/ 405237 w 2298700"/>
              <a:gd name="T73" fmla="*/ 760071 h 2298700"/>
              <a:gd name="T74" fmla="*/ 535765 w 2298700"/>
              <a:gd name="T75" fmla="*/ 742589 h 2298700"/>
              <a:gd name="T76" fmla="*/ 679890 w 2298700"/>
              <a:gd name="T77" fmla="*/ 706945 h 2298700"/>
              <a:gd name="T78" fmla="*/ 816536 w 2298700"/>
              <a:gd name="T79" fmla="*/ 654273 h 2298700"/>
              <a:gd name="T80" fmla="*/ 989667 w 2298700"/>
              <a:gd name="T81" fmla="*/ 554832 h 2298700"/>
              <a:gd name="T82" fmla="*/ 1171862 w 2298700"/>
              <a:gd name="T83" fmla="*/ 398859 h 2298700"/>
              <a:gd name="T84" fmla="*/ 1282675 w 2298700"/>
              <a:gd name="T85" fmla="*/ 267178 h 2298700"/>
              <a:gd name="T86" fmla="*/ 1087110 w 2298700"/>
              <a:gd name="T87" fmla="*/ 283979 h 2298700"/>
              <a:gd name="T88" fmla="*/ 1044054 w 2298700"/>
              <a:gd name="T89" fmla="*/ 259005 h 2298700"/>
              <a:gd name="T90" fmla="*/ 1040654 w 2298700"/>
              <a:gd name="T91" fmla="*/ 208376 h 2298700"/>
              <a:gd name="T92" fmla="*/ 1446288 w 2298700"/>
              <a:gd name="T93" fmla="*/ 40370 h 2298700"/>
              <a:gd name="T94" fmla="*/ 128386 w 2298700"/>
              <a:gd name="T95" fmla="*/ 3403 h 2298700"/>
              <a:gd name="T96" fmla="*/ 171711 w 2298700"/>
              <a:gd name="T97" fmla="*/ 26993 h 2298700"/>
              <a:gd name="T98" fmla="*/ 199157 w 2298700"/>
              <a:gd name="T99" fmla="*/ 67596 h 2298700"/>
              <a:gd name="T100" fmla="*/ 2201163 w 2298700"/>
              <a:gd name="T101" fmla="*/ 2093192 h 2298700"/>
              <a:gd name="T102" fmla="*/ 2249251 w 2298700"/>
              <a:gd name="T103" fmla="*/ 2107936 h 2298700"/>
              <a:gd name="T104" fmla="*/ 2283729 w 2298700"/>
              <a:gd name="T105" fmla="*/ 2142414 h 2298700"/>
              <a:gd name="T106" fmla="*/ 2298473 w 2298700"/>
              <a:gd name="T107" fmla="*/ 2190729 h 2298700"/>
              <a:gd name="T108" fmla="*/ 2288720 w 2298700"/>
              <a:gd name="T109" fmla="*/ 2240405 h 2298700"/>
              <a:gd name="T110" fmla="*/ 2257417 w 2298700"/>
              <a:gd name="T111" fmla="*/ 2278059 h 2298700"/>
              <a:gd name="T112" fmla="*/ 2211597 w 2298700"/>
              <a:gd name="T113" fmla="*/ 2297566 h 2298700"/>
              <a:gd name="T114" fmla="*/ 72132 w 2298700"/>
              <a:gd name="T115" fmla="*/ 2294164 h 2298700"/>
              <a:gd name="T116" fmla="*/ 29715 w 2298700"/>
              <a:gd name="T117" fmla="*/ 2268532 h 2298700"/>
              <a:gd name="T118" fmla="*/ 4537 w 2298700"/>
              <a:gd name="T119" fmla="*/ 2226568 h 2298700"/>
              <a:gd name="T120" fmla="*/ 907 w 2298700"/>
              <a:gd name="T121" fmla="*/ 87330 h 2298700"/>
              <a:gd name="T122" fmla="*/ 20188 w 2298700"/>
              <a:gd name="T123" fmla="*/ 41510 h 2298700"/>
              <a:gd name="T124" fmla="*/ 57842 w 2298700"/>
              <a:gd name="T125" fmla="*/ 10434 h 2298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98700" h="2298700">
                <a:moveTo>
                  <a:pt x="494084" y="1279525"/>
                </a:moveTo>
                <a:lnTo>
                  <a:pt x="844179" y="1279525"/>
                </a:lnTo>
                <a:lnTo>
                  <a:pt x="849841" y="1279752"/>
                </a:lnTo>
                <a:lnTo>
                  <a:pt x="855502" y="1280660"/>
                </a:lnTo>
                <a:lnTo>
                  <a:pt x="860710" y="1282023"/>
                </a:lnTo>
                <a:lnTo>
                  <a:pt x="865692" y="1283839"/>
                </a:lnTo>
                <a:lnTo>
                  <a:pt x="870674" y="1286109"/>
                </a:lnTo>
                <a:lnTo>
                  <a:pt x="875203" y="1289061"/>
                </a:lnTo>
                <a:lnTo>
                  <a:pt x="879732" y="1292467"/>
                </a:lnTo>
                <a:lnTo>
                  <a:pt x="883582" y="1295872"/>
                </a:lnTo>
                <a:lnTo>
                  <a:pt x="887205" y="1299959"/>
                </a:lnTo>
                <a:lnTo>
                  <a:pt x="890602" y="1304273"/>
                </a:lnTo>
                <a:lnTo>
                  <a:pt x="893320" y="1308814"/>
                </a:lnTo>
                <a:lnTo>
                  <a:pt x="895584" y="1313809"/>
                </a:lnTo>
                <a:lnTo>
                  <a:pt x="897396" y="1319031"/>
                </a:lnTo>
                <a:lnTo>
                  <a:pt x="898981" y="1324480"/>
                </a:lnTo>
                <a:lnTo>
                  <a:pt x="899660" y="1329702"/>
                </a:lnTo>
                <a:lnTo>
                  <a:pt x="900113" y="1335378"/>
                </a:lnTo>
                <a:lnTo>
                  <a:pt x="900113" y="1818531"/>
                </a:lnTo>
                <a:lnTo>
                  <a:pt x="899660" y="1824434"/>
                </a:lnTo>
                <a:lnTo>
                  <a:pt x="898981" y="1829883"/>
                </a:lnTo>
                <a:lnTo>
                  <a:pt x="897396" y="1835332"/>
                </a:lnTo>
                <a:lnTo>
                  <a:pt x="895584" y="1840554"/>
                </a:lnTo>
                <a:lnTo>
                  <a:pt x="893320" y="1845322"/>
                </a:lnTo>
                <a:lnTo>
                  <a:pt x="890602" y="1850090"/>
                </a:lnTo>
                <a:lnTo>
                  <a:pt x="887205" y="1854404"/>
                </a:lnTo>
                <a:lnTo>
                  <a:pt x="883582" y="1858264"/>
                </a:lnTo>
                <a:lnTo>
                  <a:pt x="879732" y="1861897"/>
                </a:lnTo>
                <a:lnTo>
                  <a:pt x="875203" y="1865302"/>
                </a:lnTo>
                <a:lnTo>
                  <a:pt x="870674" y="1867800"/>
                </a:lnTo>
                <a:lnTo>
                  <a:pt x="865692" y="1870524"/>
                </a:lnTo>
                <a:lnTo>
                  <a:pt x="860710" y="1872114"/>
                </a:lnTo>
                <a:lnTo>
                  <a:pt x="855502" y="1873476"/>
                </a:lnTo>
                <a:lnTo>
                  <a:pt x="849841" y="1874611"/>
                </a:lnTo>
                <a:lnTo>
                  <a:pt x="844179" y="1874838"/>
                </a:lnTo>
                <a:lnTo>
                  <a:pt x="494084" y="1874838"/>
                </a:lnTo>
                <a:lnTo>
                  <a:pt x="488423" y="1874611"/>
                </a:lnTo>
                <a:lnTo>
                  <a:pt x="482761" y="1873476"/>
                </a:lnTo>
                <a:lnTo>
                  <a:pt x="477326" y="1872114"/>
                </a:lnTo>
                <a:lnTo>
                  <a:pt x="472571" y="1870524"/>
                </a:lnTo>
                <a:lnTo>
                  <a:pt x="467589" y="1867800"/>
                </a:lnTo>
                <a:lnTo>
                  <a:pt x="463060" y="1865302"/>
                </a:lnTo>
                <a:lnTo>
                  <a:pt x="458531" y="1861897"/>
                </a:lnTo>
                <a:lnTo>
                  <a:pt x="454455" y="1858264"/>
                </a:lnTo>
                <a:lnTo>
                  <a:pt x="450831" y="1854404"/>
                </a:lnTo>
                <a:lnTo>
                  <a:pt x="447661" y="1850090"/>
                </a:lnTo>
                <a:lnTo>
                  <a:pt x="444944" y="1845322"/>
                </a:lnTo>
                <a:lnTo>
                  <a:pt x="442679" y="1840554"/>
                </a:lnTo>
                <a:lnTo>
                  <a:pt x="440868" y="1835332"/>
                </a:lnTo>
                <a:lnTo>
                  <a:pt x="439282" y="1829883"/>
                </a:lnTo>
                <a:lnTo>
                  <a:pt x="438603" y="1824434"/>
                </a:lnTo>
                <a:lnTo>
                  <a:pt x="438150" y="1818531"/>
                </a:lnTo>
                <a:lnTo>
                  <a:pt x="438150" y="1335378"/>
                </a:lnTo>
                <a:lnTo>
                  <a:pt x="438603" y="1329702"/>
                </a:lnTo>
                <a:lnTo>
                  <a:pt x="439282" y="1324480"/>
                </a:lnTo>
                <a:lnTo>
                  <a:pt x="440868" y="1319031"/>
                </a:lnTo>
                <a:lnTo>
                  <a:pt x="442679" y="1313809"/>
                </a:lnTo>
                <a:lnTo>
                  <a:pt x="444944" y="1308814"/>
                </a:lnTo>
                <a:lnTo>
                  <a:pt x="447661" y="1304273"/>
                </a:lnTo>
                <a:lnTo>
                  <a:pt x="450831" y="1299959"/>
                </a:lnTo>
                <a:lnTo>
                  <a:pt x="454455" y="1295872"/>
                </a:lnTo>
                <a:lnTo>
                  <a:pt x="458531" y="1292467"/>
                </a:lnTo>
                <a:lnTo>
                  <a:pt x="463060" y="1289061"/>
                </a:lnTo>
                <a:lnTo>
                  <a:pt x="467589" y="1286109"/>
                </a:lnTo>
                <a:lnTo>
                  <a:pt x="472571" y="1283839"/>
                </a:lnTo>
                <a:lnTo>
                  <a:pt x="477326" y="1282023"/>
                </a:lnTo>
                <a:lnTo>
                  <a:pt x="482761" y="1280660"/>
                </a:lnTo>
                <a:lnTo>
                  <a:pt x="488423" y="1279752"/>
                </a:lnTo>
                <a:lnTo>
                  <a:pt x="494084" y="1279525"/>
                </a:lnTo>
                <a:close/>
                <a:moveTo>
                  <a:pt x="1168971" y="903287"/>
                </a:moveTo>
                <a:lnTo>
                  <a:pt x="1518668" y="903287"/>
                </a:lnTo>
                <a:lnTo>
                  <a:pt x="1524553" y="903514"/>
                </a:lnTo>
                <a:lnTo>
                  <a:pt x="1529985" y="904195"/>
                </a:lnTo>
                <a:lnTo>
                  <a:pt x="1535418" y="905557"/>
                </a:lnTo>
                <a:lnTo>
                  <a:pt x="1540624" y="907600"/>
                </a:lnTo>
                <a:lnTo>
                  <a:pt x="1545377" y="909870"/>
                </a:lnTo>
                <a:lnTo>
                  <a:pt x="1550130" y="912821"/>
                </a:lnTo>
                <a:lnTo>
                  <a:pt x="1554430" y="915999"/>
                </a:lnTo>
                <a:lnTo>
                  <a:pt x="1558278" y="919404"/>
                </a:lnTo>
                <a:lnTo>
                  <a:pt x="1561900" y="923717"/>
                </a:lnTo>
                <a:lnTo>
                  <a:pt x="1565295" y="927803"/>
                </a:lnTo>
                <a:lnTo>
                  <a:pt x="1567784" y="932343"/>
                </a:lnTo>
                <a:lnTo>
                  <a:pt x="1570274" y="937337"/>
                </a:lnTo>
                <a:lnTo>
                  <a:pt x="1572085" y="942558"/>
                </a:lnTo>
                <a:lnTo>
                  <a:pt x="1573443" y="948006"/>
                </a:lnTo>
                <a:lnTo>
                  <a:pt x="1574575" y="953681"/>
                </a:lnTo>
                <a:lnTo>
                  <a:pt x="1574801" y="959355"/>
                </a:lnTo>
                <a:lnTo>
                  <a:pt x="1574801" y="1818542"/>
                </a:lnTo>
                <a:lnTo>
                  <a:pt x="1574575" y="1824444"/>
                </a:lnTo>
                <a:lnTo>
                  <a:pt x="1573443" y="1829892"/>
                </a:lnTo>
                <a:lnTo>
                  <a:pt x="1572085" y="1835340"/>
                </a:lnTo>
                <a:lnTo>
                  <a:pt x="1570274" y="1840560"/>
                </a:lnTo>
                <a:lnTo>
                  <a:pt x="1567784" y="1845327"/>
                </a:lnTo>
                <a:lnTo>
                  <a:pt x="1565295" y="1850094"/>
                </a:lnTo>
                <a:lnTo>
                  <a:pt x="1561900" y="1854407"/>
                </a:lnTo>
                <a:lnTo>
                  <a:pt x="1558278" y="1858266"/>
                </a:lnTo>
                <a:lnTo>
                  <a:pt x="1554430" y="1861898"/>
                </a:lnTo>
                <a:lnTo>
                  <a:pt x="1550130" y="1865303"/>
                </a:lnTo>
                <a:lnTo>
                  <a:pt x="1545377" y="1867800"/>
                </a:lnTo>
                <a:lnTo>
                  <a:pt x="1540624" y="1870524"/>
                </a:lnTo>
                <a:lnTo>
                  <a:pt x="1535418" y="1872113"/>
                </a:lnTo>
                <a:lnTo>
                  <a:pt x="1529985" y="1873475"/>
                </a:lnTo>
                <a:lnTo>
                  <a:pt x="1524553" y="1874610"/>
                </a:lnTo>
                <a:lnTo>
                  <a:pt x="1518668" y="1874837"/>
                </a:lnTo>
                <a:lnTo>
                  <a:pt x="1168971" y="1874837"/>
                </a:lnTo>
                <a:lnTo>
                  <a:pt x="1163312" y="1874610"/>
                </a:lnTo>
                <a:lnTo>
                  <a:pt x="1157654" y="1873475"/>
                </a:lnTo>
                <a:lnTo>
                  <a:pt x="1152221" y="1872113"/>
                </a:lnTo>
                <a:lnTo>
                  <a:pt x="1147242" y="1870524"/>
                </a:lnTo>
                <a:lnTo>
                  <a:pt x="1142262" y="1867800"/>
                </a:lnTo>
                <a:lnTo>
                  <a:pt x="1137736" y="1865303"/>
                </a:lnTo>
                <a:lnTo>
                  <a:pt x="1133435" y="1861898"/>
                </a:lnTo>
                <a:lnTo>
                  <a:pt x="1129361" y="1858266"/>
                </a:lnTo>
                <a:lnTo>
                  <a:pt x="1125740" y="1854407"/>
                </a:lnTo>
                <a:lnTo>
                  <a:pt x="1122797" y="1850094"/>
                </a:lnTo>
                <a:lnTo>
                  <a:pt x="1119855" y="1845327"/>
                </a:lnTo>
                <a:lnTo>
                  <a:pt x="1117365" y="1840560"/>
                </a:lnTo>
                <a:lnTo>
                  <a:pt x="1115554" y="1835340"/>
                </a:lnTo>
                <a:lnTo>
                  <a:pt x="1114196" y="1829892"/>
                </a:lnTo>
                <a:lnTo>
                  <a:pt x="1113291" y="1824444"/>
                </a:lnTo>
                <a:lnTo>
                  <a:pt x="1112838" y="1818542"/>
                </a:lnTo>
                <a:lnTo>
                  <a:pt x="1112838" y="959355"/>
                </a:lnTo>
                <a:lnTo>
                  <a:pt x="1113291" y="953681"/>
                </a:lnTo>
                <a:lnTo>
                  <a:pt x="1114196" y="948006"/>
                </a:lnTo>
                <a:lnTo>
                  <a:pt x="1115554" y="942558"/>
                </a:lnTo>
                <a:lnTo>
                  <a:pt x="1117365" y="937337"/>
                </a:lnTo>
                <a:lnTo>
                  <a:pt x="1119855" y="932343"/>
                </a:lnTo>
                <a:lnTo>
                  <a:pt x="1122797" y="927803"/>
                </a:lnTo>
                <a:lnTo>
                  <a:pt x="1125740" y="923717"/>
                </a:lnTo>
                <a:lnTo>
                  <a:pt x="1129361" y="919404"/>
                </a:lnTo>
                <a:lnTo>
                  <a:pt x="1133435" y="915999"/>
                </a:lnTo>
                <a:lnTo>
                  <a:pt x="1137736" y="912821"/>
                </a:lnTo>
                <a:lnTo>
                  <a:pt x="1142262" y="909870"/>
                </a:lnTo>
                <a:lnTo>
                  <a:pt x="1147242" y="907600"/>
                </a:lnTo>
                <a:lnTo>
                  <a:pt x="1152221" y="905557"/>
                </a:lnTo>
                <a:lnTo>
                  <a:pt x="1157654" y="904195"/>
                </a:lnTo>
                <a:lnTo>
                  <a:pt x="1163312" y="903514"/>
                </a:lnTo>
                <a:lnTo>
                  <a:pt x="1168971" y="903287"/>
                </a:lnTo>
                <a:close/>
                <a:moveTo>
                  <a:pt x="1841899" y="450850"/>
                </a:moveTo>
                <a:lnTo>
                  <a:pt x="2191940" y="450850"/>
                </a:lnTo>
                <a:lnTo>
                  <a:pt x="2197604" y="451077"/>
                </a:lnTo>
                <a:lnTo>
                  <a:pt x="2203268" y="451985"/>
                </a:lnTo>
                <a:lnTo>
                  <a:pt x="2208706" y="453573"/>
                </a:lnTo>
                <a:lnTo>
                  <a:pt x="2213917" y="455388"/>
                </a:lnTo>
                <a:lnTo>
                  <a:pt x="2218674" y="457657"/>
                </a:lnTo>
                <a:lnTo>
                  <a:pt x="2223206" y="460380"/>
                </a:lnTo>
                <a:lnTo>
                  <a:pt x="2227510" y="463556"/>
                </a:lnTo>
                <a:lnTo>
                  <a:pt x="2231589" y="467186"/>
                </a:lnTo>
                <a:lnTo>
                  <a:pt x="2235214" y="471271"/>
                </a:lnTo>
                <a:lnTo>
                  <a:pt x="2238385" y="475582"/>
                </a:lnTo>
                <a:lnTo>
                  <a:pt x="2241104" y="480119"/>
                </a:lnTo>
                <a:lnTo>
                  <a:pt x="2243596" y="484884"/>
                </a:lnTo>
                <a:lnTo>
                  <a:pt x="2245636" y="490103"/>
                </a:lnTo>
                <a:lnTo>
                  <a:pt x="2246768" y="495548"/>
                </a:lnTo>
                <a:lnTo>
                  <a:pt x="2247675" y="501221"/>
                </a:lnTo>
                <a:lnTo>
                  <a:pt x="2247901" y="506893"/>
                </a:lnTo>
                <a:lnTo>
                  <a:pt x="2247901" y="1818568"/>
                </a:lnTo>
                <a:lnTo>
                  <a:pt x="2247675" y="1824468"/>
                </a:lnTo>
                <a:lnTo>
                  <a:pt x="2246768" y="1829913"/>
                </a:lnTo>
                <a:lnTo>
                  <a:pt x="2245636" y="1835358"/>
                </a:lnTo>
                <a:lnTo>
                  <a:pt x="2243596" y="1840577"/>
                </a:lnTo>
                <a:lnTo>
                  <a:pt x="2241104" y="1845342"/>
                </a:lnTo>
                <a:lnTo>
                  <a:pt x="2238385" y="1850107"/>
                </a:lnTo>
                <a:lnTo>
                  <a:pt x="2235214" y="1854418"/>
                </a:lnTo>
                <a:lnTo>
                  <a:pt x="2231589" y="1858275"/>
                </a:lnTo>
                <a:lnTo>
                  <a:pt x="2227510" y="1861905"/>
                </a:lnTo>
                <a:lnTo>
                  <a:pt x="2223206" y="1865309"/>
                </a:lnTo>
                <a:lnTo>
                  <a:pt x="2218674" y="1867804"/>
                </a:lnTo>
                <a:lnTo>
                  <a:pt x="2213917" y="1870527"/>
                </a:lnTo>
                <a:lnTo>
                  <a:pt x="2208706" y="1872115"/>
                </a:lnTo>
                <a:lnTo>
                  <a:pt x="2203268" y="1873477"/>
                </a:lnTo>
                <a:lnTo>
                  <a:pt x="2197604" y="1874611"/>
                </a:lnTo>
                <a:lnTo>
                  <a:pt x="2191940" y="1874838"/>
                </a:lnTo>
                <a:lnTo>
                  <a:pt x="1841899" y="1874838"/>
                </a:lnTo>
                <a:lnTo>
                  <a:pt x="1836235" y="1874611"/>
                </a:lnTo>
                <a:lnTo>
                  <a:pt x="1830798" y="1873477"/>
                </a:lnTo>
                <a:lnTo>
                  <a:pt x="1825360" y="1872115"/>
                </a:lnTo>
                <a:lnTo>
                  <a:pt x="1820149" y="1870527"/>
                </a:lnTo>
                <a:lnTo>
                  <a:pt x="1815165" y="1867804"/>
                </a:lnTo>
                <a:lnTo>
                  <a:pt x="1810633" y="1865309"/>
                </a:lnTo>
                <a:lnTo>
                  <a:pt x="1806329" y="1861905"/>
                </a:lnTo>
                <a:lnTo>
                  <a:pt x="1802477" y="1858275"/>
                </a:lnTo>
                <a:lnTo>
                  <a:pt x="1798852" y="1854418"/>
                </a:lnTo>
                <a:lnTo>
                  <a:pt x="1795454" y="1850107"/>
                </a:lnTo>
                <a:lnTo>
                  <a:pt x="1792508" y="1845342"/>
                </a:lnTo>
                <a:lnTo>
                  <a:pt x="1790243" y="1840577"/>
                </a:lnTo>
                <a:lnTo>
                  <a:pt x="1788430" y="1835358"/>
                </a:lnTo>
                <a:lnTo>
                  <a:pt x="1786844" y="1829913"/>
                </a:lnTo>
                <a:lnTo>
                  <a:pt x="1786165" y="1824468"/>
                </a:lnTo>
                <a:lnTo>
                  <a:pt x="1785938" y="1818568"/>
                </a:lnTo>
                <a:lnTo>
                  <a:pt x="1785938" y="506893"/>
                </a:lnTo>
                <a:lnTo>
                  <a:pt x="1786165" y="501221"/>
                </a:lnTo>
                <a:lnTo>
                  <a:pt x="1786844" y="495548"/>
                </a:lnTo>
                <a:lnTo>
                  <a:pt x="1788430" y="490103"/>
                </a:lnTo>
                <a:lnTo>
                  <a:pt x="1790243" y="484884"/>
                </a:lnTo>
                <a:lnTo>
                  <a:pt x="1792508" y="480119"/>
                </a:lnTo>
                <a:lnTo>
                  <a:pt x="1795454" y="475582"/>
                </a:lnTo>
                <a:lnTo>
                  <a:pt x="1798852" y="471271"/>
                </a:lnTo>
                <a:lnTo>
                  <a:pt x="1802477" y="467186"/>
                </a:lnTo>
                <a:lnTo>
                  <a:pt x="1806329" y="463556"/>
                </a:lnTo>
                <a:lnTo>
                  <a:pt x="1810633" y="460380"/>
                </a:lnTo>
                <a:lnTo>
                  <a:pt x="1815165" y="457657"/>
                </a:lnTo>
                <a:lnTo>
                  <a:pt x="1820149" y="455388"/>
                </a:lnTo>
                <a:lnTo>
                  <a:pt x="1825360" y="453573"/>
                </a:lnTo>
                <a:lnTo>
                  <a:pt x="1830798" y="451985"/>
                </a:lnTo>
                <a:lnTo>
                  <a:pt x="1836235" y="451077"/>
                </a:lnTo>
                <a:lnTo>
                  <a:pt x="1841899" y="450850"/>
                </a:lnTo>
                <a:close/>
                <a:moveTo>
                  <a:pt x="1458752" y="38100"/>
                </a:moveTo>
                <a:lnTo>
                  <a:pt x="1461698" y="38100"/>
                </a:lnTo>
                <a:lnTo>
                  <a:pt x="1464870" y="38100"/>
                </a:lnTo>
                <a:lnTo>
                  <a:pt x="1468043" y="38327"/>
                </a:lnTo>
                <a:lnTo>
                  <a:pt x="1470989" y="38554"/>
                </a:lnTo>
                <a:lnTo>
                  <a:pt x="1473935" y="39235"/>
                </a:lnTo>
                <a:lnTo>
                  <a:pt x="1477107" y="40143"/>
                </a:lnTo>
                <a:lnTo>
                  <a:pt x="1479827" y="40825"/>
                </a:lnTo>
                <a:lnTo>
                  <a:pt x="1482773" y="42187"/>
                </a:lnTo>
                <a:lnTo>
                  <a:pt x="1485718" y="43322"/>
                </a:lnTo>
                <a:lnTo>
                  <a:pt x="1488438" y="44684"/>
                </a:lnTo>
                <a:lnTo>
                  <a:pt x="1491157" y="46500"/>
                </a:lnTo>
                <a:lnTo>
                  <a:pt x="1493876" y="48317"/>
                </a:lnTo>
                <a:lnTo>
                  <a:pt x="1496143" y="50133"/>
                </a:lnTo>
                <a:lnTo>
                  <a:pt x="1498409" y="52176"/>
                </a:lnTo>
                <a:lnTo>
                  <a:pt x="1500675" y="54447"/>
                </a:lnTo>
                <a:lnTo>
                  <a:pt x="1502714" y="56490"/>
                </a:lnTo>
                <a:lnTo>
                  <a:pt x="1504754" y="59214"/>
                </a:lnTo>
                <a:lnTo>
                  <a:pt x="1506567" y="61485"/>
                </a:lnTo>
                <a:lnTo>
                  <a:pt x="1508153" y="64436"/>
                </a:lnTo>
                <a:lnTo>
                  <a:pt x="1509739" y="66934"/>
                </a:lnTo>
                <a:lnTo>
                  <a:pt x="1511099" y="69658"/>
                </a:lnTo>
                <a:lnTo>
                  <a:pt x="1512005" y="72609"/>
                </a:lnTo>
                <a:lnTo>
                  <a:pt x="1513138" y="75334"/>
                </a:lnTo>
                <a:lnTo>
                  <a:pt x="1514045" y="78512"/>
                </a:lnTo>
                <a:lnTo>
                  <a:pt x="1514725" y="81691"/>
                </a:lnTo>
                <a:lnTo>
                  <a:pt x="1515178" y="84642"/>
                </a:lnTo>
                <a:lnTo>
                  <a:pt x="1515405" y="87821"/>
                </a:lnTo>
                <a:lnTo>
                  <a:pt x="1543051" y="488083"/>
                </a:lnTo>
                <a:lnTo>
                  <a:pt x="1543051" y="493305"/>
                </a:lnTo>
                <a:lnTo>
                  <a:pt x="1542371" y="498754"/>
                </a:lnTo>
                <a:lnTo>
                  <a:pt x="1541691" y="503976"/>
                </a:lnTo>
                <a:lnTo>
                  <a:pt x="1540105" y="509198"/>
                </a:lnTo>
                <a:lnTo>
                  <a:pt x="1538066" y="513965"/>
                </a:lnTo>
                <a:lnTo>
                  <a:pt x="1535800" y="518506"/>
                </a:lnTo>
                <a:lnTo>
                  <a:pt x="1532854" y="522820"/>
                </a:lnTo>
                <a:lnTo>
                  <a:pt x="1529908" y="526906"/>
                </a:lnTo>
                <a:lnTo>
                  <a:pt x="1526282" y="530539"/>
                </a:lnTo>
                <a:lnTo>
                  <a:pt x="1522429" y="533944"/>
                </a:lnTo>
                <a:lnTo>
                  <a:pt x="1518350" y="537123"/>
                </a:lnTo>
                <a:lnTo>
                  <a:pt x="1513592" y="539620"/>
                </a:lnTo>
                <a:lnTo>
                  <a:pt x="1509059" y="541663"/>
                </a:lnTo>
                <a:lnTo>
                  <a:pt x="1503847" y="543253"/>
                </a:lnTo>
                <a:lnTo>
                  <a:pt x="1498635" y="544615"/>
                </a:lnTo>
                <a:lnTo>
                  <a:pt x="1493197" y="545069"/>
                </a:lnTo>
                <a:lnTo>
                  <a:pt x="1488211" y="545296"/>
                </a:lnTo>
                <a:lnTo>
                  <a:pt x="1482999" y="544842"/>
                </a:lnTo>
                <a:lnTo>
                  <a:pt x="1478014" y="543934"/>
                </a:lnTo>
                <a:lnTo>
                  <a:pt x="1473481" y="542799"/>
                </a:lnTo>
                <a:lnTo>
                  <a:pt x="1469629" y="541437"/>
                </a:lnTo>
                <a:lnTo>
                  <a:pt x="1466003" y="539847"/>
                </a:lnTo>
                <a:lnTo>
                  <a:pt x="1462604" y="537804"/>
                </a:lnTo>
                <a:lnTo>
                  <a:pt x="1459205" y="535761"/>
                </a:lnTo>
                <a:lnTo>
                  <a:pt x="1456032" y="533490"/>
                </a:lnTo>
                <a:lnTo>
                  <a:pt x="1453086" y="530766"/>
                </a:lnTo>
                <a:lnTo>
                  <a:pt x="1450367" y="528041"/>
                </a:lnTo>
                <a:lnTo>
                  <a:pt x="1447874" y="525090"/>
                </a:lnTo>
                <a:lnTo>
                  <a:pt x="1445382" y="522139"/>
                </a:lnTo>
                <a:lnTo>
                  <a:pt x="1443342" y="518733"/>
                </a:lnTo>
                <a:lnTo>
                  <a:pt x="1441529" y="515100"/>
                </a:lnTo>
                <a:lnTo>
                  <a:pt x="1439943" y="511468"/>
                </a:lnTo>
                <a:lnTo>
                  <a:pt x="1438583" y="507608"/>
                </a:lnTo>
                <a:lnTo>
                  <a:pt x="1437677" y="503749"/>
                </a:lnTo>
                <a:lnTo>
                  <a:pt x="1436770" y="499662"/>
                </a:lnTo>
                <a:lnTo>
                  <a:pt x="1436317" y="495348"/>
                </a:lnTo>
                <a:lnTo>
                  <a:pt x="1419775" y="256735"/>
                </a:lnTo>
                <a:lnTo>
                  <a:pt x="1404592" y="280119"/>
                </a:lnTo>
                <a:lnTo>
                  <a:pt x="1396434" y="292606"/>
                </a:lnTo>
                <a:lnTo>
                  <a:pt x="1387596" y="304866"/>
                </a:lnTo>
                <a:lnTo>
                  <a:pt x="1378531" y="317580"/>
                </a:lnTo>
                <a:lnTo>
                  <a:pt x="1369014" y="330748"/>
                </a:lnTo>
                <a:lnTo>
                  <a:pt x="1359270" y="343916"/>
                </a:lnTo>
                <a:lnTo>
                  <a:pt x="1348845" y="357311"/>
                </a:lnTo>
                <a:lnTo>
                  <a:pt x="1338421" y="370933"/>
                </a:lnTo>
                <a:lnTo>
                  <a:pt x="1327317" y="384782"/>
                </a:lnTo>
                <a:lnTo>
                  <a:pt x="1315760" y="398632"/>
                </a:lnTo>
                <a:lnTo>
                  <a:pt x="1303750" y="412935"/>
                </a:lnTo>
                <a:lnTo>
                  <a:pt x="1291513" y="426784"/>
                </a:lnTo>
                <a:lnTo>
                  <a:pt x="1278823" y="441314"/>
                </a:lnTo>
                <a:lnTo>
                  <a:pt x="1265679" y="455390"/>
                </a:lnTo>
                <a:lnTo>
                  <a:pt x="1252082" y="469920"/>
                </a:lnTo>
                <a:lnTo>
                  <a:pt x="1233500" y="488991"/>
                </a:lnTo>
                <a:lnTo>
                  <a:pt x="1214465" y="507608"/>
                </a:lnTo>
                <a:lnTo>
                  <a:pt x="1195430" y="525998"/>
                </a:lnTo>
                <a:lnTo>
                  <a:pt x="1175715" y="543707"/>
                </a:lnTo>
                <a:lnTo>
                  <a:pt x="1156226" y="560961"/>
                </a:lnTo>
                <a:lnTo>
                  <a:pt x="1136058" y="577762"/>
                </a:lnTo>
                <a:lnTo>
                  <a:pt x="1115663" y="594336"/>
                </a:lnTo>
                <a:lnTo>
                  <a:pt x="1095041" y="610455"/>
                </a:lnTo>
                <a:lnTo>
                  <a:pt x="1074193" y="625893"/>
                </a:lnTo>
                <a:lnTo>
                  <a:pt x="1053118" y="641105"/>
                </a:lnTo>
                <a:lnTo>
                  <a:pt x="1031590" y="655408"/>
                </a:lnTo>
                <a:lnTo>
                  <a:pt x="1010062" y="669711"/>
                </a:lnTo>
                <a:lnTo>
                  <a:pt x="988081" y="683333"/>
                </a:lnTo>
                <a:lnTo>
                  <a:pt x="966099" y="696501"/>
                </a:lnTo>
                <a:lnTo>
                  <a:pt x="943891" y="709442"/>
                </a:lnTo>
                <a:lnTo>
                  <a:pt x="921004" y="721702"/>
                </a:lnTo>
                <a:lnTo>
                  <a:pt x="906954" y="729194"/>
                </a:lnTo>
                <a:lnTo>
                  <a:pt x="892451" y="736232"/>
                </a:lnTo>
                <a:lnTo>
                  <a:pt x="878174" y="743497"/>
                </a:lnTo>
                <a:lnTo>
                  <a:pt x="863671" y="750309"/>
                </a:lnTo>
                <a:lnTo>
                  <a:pt x="848941" y="756893"/>
                </a:lnTo>
                <a:lnTo>
                  <a:pt x="834212" y="763477"/>
                </a:lnTo>
                <a:lnTo>
                  <a:pt x="819482" y="769834"/>
                </a:lnTo>
                <a:lnTo>
                  <a:pt x="804526" y="775736"/>
                </a:lnTo>
                <a:lnTo>
                  <a:pt x="789569" y="781866"/>
                </a:lnTo>
                <a:lnTo>
                  <a:pt x="774613" y="787542"/>
                </a:lnTo>
                <a:lnTo>
                  <a:pt x="759430" y="793218"/>
                </a:lnTo>
                <a:lnTo>
                  <a:pt x="744247" y="798440"/>
                </a:lnTo>
                <a:lnTo>
                  <a:pt x="729064" y="803435"/>
                </a:lnTo>
                <a:lnTo>
                  <a:pt x="713655" y="808657"/>
                </a:lnTo>
                <a:lnTo>
                  <a:pt x="698472" y="813197"/>
                </a:lnTo>
                <a:lnTo>
                  <a:pt x="682609" y="817965"/>
                </a:lnTo>
                <a:lnTo>
                  <a:pt x="667199" y="822279"/>
                </a:lnTo>
                <a:lnTo>
                  <a:pt x="651563" y="826365"/>
                </a:lnTo>
                <a:lnTo>
                  <a:pt x="635701" y="830452"/>
                </a:lnTo>
                <a:lnTo>
                  <a:pt x="620064" y="834084"/>
                </a:lnTo>
                <a:lnTo>
                  <a:pt x="604202" y="837717"/>
                </a:lnTo>
                <a:lnTo>
                  <a:pt x="588112" y="841350"/>
                </a:lnTo>
                <a:lnTo>
                  <a:pt x="572249" y="844528"/>
                </a:lnTo>
                <a:lnTo>
                  <a:pt x="555933" y="847479"/>
                </a:lnTo>
                <a:lnTo>
                  <a:pt x="539618" y="850431"/>
                </a:lnTo>
                <a:lnTo>
                  <a:pt x="523528" y="852928"/>
                </a:lnTo>
                <a:lnTo>
                  <a:pt x="507212" y="855653"/>
                </a:lnTo>
                <a:lnTo>
                  <a:pt x="490896" y="857923"/>
                </a:lnTo>
                <a:lnTo>
                  <a:pt x="474353" y="859966"/>
                </a:lnTo>
                <a:lnTo>
                  <a:pt x="458037" y="861783"/>
                </a:lnTo>
                <a:lnTo>
                  <a:pt x="441268" y="863372"/>
                </a:lnTo>
                <a:lnTo>
                  <a:pt x="424726" y="864961"/>
                </a:lnTo>
                <a:lnTo>
                  <a:pt x="419287" y="865188"/>
                </a:lnTo>
                <a:lnTo>
                  <a:pt x="414075" y="864734"/>
                </a:lnTo>
                <a:lnTo>
                  <a:pt x="409089" y="863826"/>
                </a:lnTo>
                <a:lnTo>
                  <a:pt x="404104" y="862464"/>
                </a:lnTo>
                <a:lnTo>
                  <a:pt x="400252" y="861329"/>
                </a:lnTo>
                <a:lnTo>
                  <a:pt x="396626" y="859739"/>
                </a:lnTo>
                <a:lnTo>
                  <a:pt x="393227" y="857923"/>
                </a:lnTo>
                <a:lnTo>
                  <a:pt x="389827" y="855880"/>
                </a:lnTo>
                <a:lnTo>
                  <a:pt x="386882" y="853609"/>
                </a:lnTo>
                <a:lnTo>
                  <a:pt x="383936" y="850885"/>
                </a:lnTo>
                <a:lnTo>
                  <a:pt x="381216" y="848161"/>
                </a:lnTo>
                <a:lnTo>
                  <a:pt x="378497" y="845209"/>
                </a:lnTo>
                <a:lnTo>
                  <a:pt x="376231" y="842258"/>
                </a:lnTo>
                <a:lnTo>
                  <a:pt x="374191" y="838852"/>
                </a:lnTo>
                <a:lnTo>
                  <a:pt x="372378" y="835447"/>
                </a:lnTo>
                <a:lnTo>
                  <a:pt x="370566" y="831814"/>
                </a:lnTo>
                <a:lnTo>
                  <a:pt x="369206" y="827955"/>
                </a:lnTo>
                <a:lnTo>
                  <a:pt x="368299" y="824095"/>
                </a:lnTo>
                <a:lnTo>
                  <a:pt x="367620" y="820008"/>
                </a:lnTo>
                <a:lnTo>
                  <a:pt x="366940" y="815922"/>
                </a:lnTo>
                <a:lnTo>
                  <a:pt x="366713" y="810473"/>
                </a:lnTo>
                <a:lnTo>
                  <a:pt x="367167" y="805024"/>
                </a:lnTo>
                <a:lnTo>
                  <a:pt x="368073" y="799802"/>
                </a:lnTo>
                <a:lnTo>
                  <a:pt x="369206" y="795034"/>
                </a:lnTo>
                <a:lnTo>
                  <a:pt x="371472" y="790040"/>
                </a:lnTo>
                <a:lnTo>
                  <a:pt x="373738" y="785272"/>
                </a:lnTo>
                <a:lnTo>
                  <a:pt x="376231" y="780958"/>
                </a:lnTo>
                <a:lnTo>
                  <a:pt x="379403" y="776872"/>
                </a:lnTo>
                <a:lnTo>
                  <a:pt x="383029" y="773239"/>
                </a:lnTo>
                <a:lnTo>
                  <a:pt x="386882" y="769607"/>
                </a:lnTo>
                <a:lnTo>
                  <a:pt x="390961" y="766882"/>
                </a:lnTo>
                <a:lnTo>
                  <a:pt x="395266" y="763931"/>
                </a:lnTo>
                <a:lnTo>
                  <a:pt x="400252" y="761887"/>
                </a:lnTo>
                <a:lnTo>
                  <a:pt x="405237" y="760071"/>
                </a:lnTo>
                <a:lnTo>
                  <a:pt x="410222" y="758709"/>
                </a:lnTo>
                <a:lnTo>
                  <a:pt x="415661" y="758255"/>
                </a:lnTo>
                <a:lnTo>
                  <a:pt x="431071" y="756666"/>
                </a:lnTo>
                <a:lnTo>
                  <a:pt x="446027" y="755076"/>
                </a:lnTo>
                <a:lnTo>
                  <a:pt x="461210" y="753714"/>
                </a:lnTo>
                <a:lnTo>
                  <a:pt x="476166" y="751898"/>
                </a:lnTo>
                <a:lnTo>
                  <a:pt x="491123" y="749854"/>
                </a:lnTo>
                <a:lnTo>
                  <a:pt x="506079" y="747357"/>
                </a:lnTo>
                <a:lnTo>
                  <a:pt x="521035" y="745087"/>
                </a:lnTo>
                <a:lnTo>
                  <a:pt x="535765" y="742589"/>
                </a:lnTo>
                <a:lnTo>
                  <a:pt x="550495" y="739638"/>
                </a:lnTo>
                <a:lnTo>
                  <a:pt x="565224" y="736913"/>
                </a:lnTo>
                <a:lnTo>
                  <a:pt x="579728" y="733735"/>
                </a:lnTo>
                <a:lnTo>
                  <a:pt x="594231" y="730329"/>
                </a:lnTo>
                <a:lnTo>
                  <a:pt x="608734" y="726697"/>
                </a:lnTo>
                <a:lnTo>
                  <a:pt x="623010" y="723064"/>
                </a:lnTo>
                <a:lnTo>
                  <a:pt x="637287" y="719432"/>
                </a:lnTo>
                <a:lnTo>
                  <a:pt x="651563" y="715345"/>
                </a:lnTo>
                <a:lnTo>
                  <a:pt x="665613" y="711259"/>
                </a:lnTo>
                <a:lnTo>
                  <a:pt x="679890" y="706945"/>
                </a:lnTo>
                <a:lnTo>
                  <a:pt x="693713" y="702404"/>
                </a:lnTo>
                <a:lnTo>
                  <a:pt x="707763" y="697864"/>
                </a:lnTo>
                <a:lnTo>
                  <a:pt x="721586" y="692869"/>
                </a:lnTo>
                <a:lnTo>
                  <a:pt x="735183" y="687874"/>
                </a:lnTo>
                <a:lnTo>
                  <a:pt x="749233" y="682652"/>
                </a:lnTo>
                <a:lnTo>
                  <a:pt x="762603" y="677430"/>
                </a:lnTo>
                <a:lnTo>
                  <a:pt x="776199" y="671755"/>
                </a:lnTo>
                <a:lnTo>
                  <a:pt x="789569" y="666079"/>
                </a:lnTo>
                <a:lnTo>
                  <a:pt x="803166" y="660176"/>
                </a:lnTo>
                <a:lnTo>
                  <a:pt x="816536" y="654273"/>
                </a:lnTo>
                <a:lnTo>
                  <a:pt x="829679" y="648143"/>
                </a:lnTo>
                <a:lnTo>
                  <a:pt x="842823" y="641559"/>
                </a:lnTo>
                <a:lnTo>
                  <a:pt x="855966" y="634975"/>
                </a:lnTo>
                <a:lnTo>
                  <a:pt x="868883" y="628164"/>
                </a:lnTo>
                <a:lnTo>
                  <a:pt x="889505" y="617039"/>
                </a:lnTo>
                <a:lnTo>
                  <a:pt x="910126" y="605460"/>
                </a:lnTo>
                <a:lnTo>
                  <a:pt x="930068" y="593655"/>
                </a:lnTo>
                <a:lnTo>
                  <a:pt x="950237" y="580941"/>
                </a:lnTo>
                <a:lnTo>
                  <a:pt x="970178" y="568000"/>
                </a:lnTo>
                <a:lnTo>
                  <a:pt x="989667" y="554832"/>
                </a:lnTo>
                <a:lnTo>
                  <a:pt x="1008929" y="540982"/>
                </a:lnTo>
                <a:lnTo>
                  <a:pt x="1027964" y="526906"/>
                </a:lnTo>
                <a:lnTo>
                  <a:pt x="1046773" y="512149"/>
                </a:lnTo>
                <a:lnTo>
                  <a:pt x="1065355" y="497165"/>
                </a:lnTo>
                <a:lnTo>
                  <a:pt x="1083937" y="481726"/>
                </a:lnTo>
                <a:lnTo>
                  <a:pt x="1102066" y="466061"/>
                </a:lnTo>
                <a:lnTo>
                  <a:pt x="1119742" y="449714"/>
                </a:lnTo>
                <a:lnTo>
                  <a:pt x="1137644" y="433141"/>
                </a:lnTo>
                <a:lnTo>
                  <a:pt x="1154866" y="416113"/>
                </a:lnTo>
                <a:lnTo>
                  <a:pt x="1171862" y="398859"/>
                </a:lnTo>
                <a:lnTo>
                  <a:pt x="1184779" y="385236"/>
                </a:lnTo>
                <a:lnTo>
                  <a:pt x="1197469" y="371841"/>
                </a:lnTo>
                <a:lnTo>
                  <a:pt x="1209480" y="358219"/>
                </a:lnTo>
                <a:lnTo>
                  <a:pt x="1221037" y="344597"/>
                </a:lnTo>
                <a:lnTo>
                  <a:pt x="1232367" y="331429"/>
                </a:lnTo>
                <a:lnTo>
                  <a:pt x="1243245" y="318261"/>
                </a:lnTo>
                <a:lnTo>
                  <a:pt x="1253895" y="305093"/>
                </a:lnTo>
                <a:lnTo>
                  <a:pt x="1263866" y="292606"/>
                </a:lnTo>
                <a:lnTo>
                  <a:pt x="1273384" y="279665"/>
                </a:lnTo>
                <a:lnTo>
                  <a:pt x="1282675" y="267178"/>
                </a:lnTo>
                <a:lnTo>
                  <a:pt x="1291739" y="255145"/>
                </a:lnTo>
                <a:lnTo>
                  <a:pt x="1300124" y="242886"/>
                </a:lnTo>
                <a:lnTo>
                  <a:pt x="1308282" y="231307"/>
                </a:lnTo>
                <a:lnTo>
                  <a:pt x="1316213" y="219728"/>
                </a:lnTo>
                <a:lnTo>
                  <a:pt x="1330263" y="197706"/>
                </a:lnTo>
                <a:lnTo>
                  <a:pt x="1107958" y="281027"/>
                </a:lnTo>
                <a:lnTo>
                  <a:pt x="1102746" y="282390"/>
                </a:lnTo>
                <a:lnTo>
                  <a:pt x="1097534" y="283525"/>
                </a:lnTo>
                <a:lnTo>
                  <a:pt x="1092322" y="283979"/>
                </a:lnTo>
                <a:lnTo>
                  <a:pt x="1087110" y="283979"/>
                </a:lnTo>
                <a:lnTo>
                  <a:pt x="1081898" y="283752"/>
                </a:lnTo>
                <a:lnTo>
                  <a:pt x="1076686" y="282844"/>
                </a:lnTo>
                <a:lnTo>
                  <a:pt x="1071927" y="281255"/>
                </a:lnTo>
                <a:lnTo>
                  <a:pt x="1067168" y="279438"/>
                </a:lnTo>
                <a:lnTo>
                  <a:pt x="1062636" y="277168"/>
                </a:lnTo>
                <a:lnTo>
                  <a:pt x="1058103" y="274216"/>
                </a:lnTo>
                <a:lnTo>
                  <a:pt x="1054251" y="270811"/>
                </a:lnTo>
                <a:lnTo>
                  <a:pt x="1050399" y="267178"/>
                </a:lnTo>
                <a:lnTo>
                  <a:pt x="1047226" y="263319"/>
                </a:lnTo>
                <a:lnTo>
                  <a:pt x="1044054" y="259005"/>
                </a:lnTo>
                <a:lnTo>
                  <a:pt x="1041561" y="254237"/>
                </a:lnTo>
                <a:lnTo>
                  <a:pt x="1039295" y="249470"/>
                </a:lnTo>
                <a:lnTo>
                  <a:pt x="1037482" y="244021"/>
                </a:lnTo>
                <a:lnTo>
                  <a:pt x="1036575" y="238799"/>
                </a:lnTo>
                <a:lnTo>
                  <a:pt x="1036122" y="233350"/>
                </a:lnTo>
                <a:lnTo>
                  <a:pt x="1036122" y="228355"/>
                </a:lnTo>
                <a:lnTo>
                  <a:pt x="1036349" y="223134"/>
                </a:lnTo>
                <a:lnTo>
                  <a:pt x="1037255" y="218139"/>
                </a:lnTo>
                <a:lnTo>
                  <a:pt x="1038841" y="213144"/>
                </a:lnTo>
                <a:lnTo>
                  <a:pt x="1040654" y="208376"/>
                </a:lnTo>
                <a:lnTo>
                  <a:pt x="1042920" y="203836"/>
                </a:lnTo>
                <a:lnTo>
                  <a:pt x="1045866" y="199295"/>
                </a:lnTo>
                <a:lnTo>
                  <a:pt x="1049266" y="195435"/>
                </a:lnTo>
                <a:lnTo>
                  <a:pt x="1052891" y="191576"/>
                </a:lnTo>
                <a:lnTo>
                  <a:pt x="1056744" y="188170"/>
                </a:lnTo>
                <a:lnTo>
                  <a:pt x="1061049" y="185219"/>
                </a:lnTo>
                <a:lnTo>
                  <a:pt x="1065582" y="182494"/>
                </a:lnTo>
                <a:lnTo>
                  <a:pt x="1070567" y="180451"/>
                </a:lnTo>
                <a:lnTo>
                  <a:pt x="1443569" y="41279"/>
                </a:lnTo>
                <a:lnTo>
                  <a:pt x="1446288" y="40370"/>
                </a:lnTo>
                <a:lnTo>
                  <a:pt x="1449461" y="39462"/>
                </a:lnTo>
                <a:lnTo>
                  <a:pt x="1452633" y="38781"/>
                </a:lnTo>
                <a:lnTo>
                  <a:pt x="1455579" y="38327"/>
                </a:lnTo>
                <a:lnTo>
                  <a:pt x="1458752" y="38100"/>
                </a:lnTo>
                <a:close/>
                <a:moveTo>
                  <a:pt x="102528" y="0"/>
                </a:moveTo>
                <a:lnTo>
                  <a:pt x="107971" y="454"/>
                </a:lnTo>
                <a:lnTo>
                  <a:pt x="113189" y="681"/>
                </a:lnTo>
                <a:lnTo>
                  <a:pt x="118406" y="1361"/>
                </a:lnTo>
                <a:lnTo>
                  <a:pt x="123169" y="2268"/>
                </a:lnTo>
                <a:lnTo>
                  <a:pt x="128386" y="3403"/>
                </a:lnTo>
                <a:lnTo>
                  <a:pt x="133376" y="4764"/>
                </a:lnTo>
                <a:lnTo>
                  <a:pt x="137913" y="6578"/>
                </a:lnTo>
                <a:lnTo>
                  <a:pt x="142450" y="8393"/>
                </a:lnTo>
                <a:lnTo>
                  <a:pt x="147213" y="10434"/>
                </a:lnTo>
                <a:lnTo>
                  <a:pt x="151523" y="12476"/>
                </a:lnTo>
                <a:lnTo>
                  <a:pt x="156059" y="14971"/>
                </a:lnTo>
                <a:lnTo>
                  <a:pt x="160143" y="17693"/>
                </a:lnTo>
                <a:lnTo>
                  <a:pt x="164225" y="20642"/>
                </a:lnTo>
                <a:lnTo>
                  <a:pt x="168082" y="23590"/>
                </a:lnTo>
                <a:lnTo>
                  <a:pt x="171711" y="26993"/>
                </a:lnTo>
                <a:lnTo>
                  <a:pt x="175340" y="30169"/>
                </a:lnTo>
                <a:lnTo>
                  <a:pt x="178743" y="33798"/>
                </a:lnTo>
                <a:lnTo>
                  <a:pt x="181918" y="37427"/>
                </a:lnTo>
                <a:lnTo>
                  <a:pt x="185094" y="41510"/>
                </a:lnTo>
                <a:lnTo>
                  <a:pt x="188043" y="45593"/>
                </a:lnTo>
                <a:lnTo>
                  <a:pt x="190538" y="49676"/>
                </a:lnTo>
                <a:lnTo>
                  <a:pt x="193033" y="53986"/>
                </a:lnTo>
                <a:lnTo>
                  <a:pt x="195074" y="58296"/>
                </a:lnTo>
                <a:lnTo>
                  <a:pt x="197343" y="63059"/>
                </a:lnTo>
                <a:lnTo>
                  <a:pt x="199157" y="67596"/>
                </a:lnTo>
                <a:lnTo>
                  <a:pt x="200745" y="72359"/>
                </a:lnTo>
                <a:lnTo>
                  <a:pt x="202106" y="77122"/>
                </a:lnTo>
                <a:lnTo>
                  <a:pt x="203467" y="82340"/>
                </a:lnTo>
                <a:lnTo>
                  <a:pt x="204148" y="87330"/>
                </a:lnTo>
                <a:lnTo>
                  <a:pt x="205055" y="92320"/>
                </a:lnTo>
                <a:lnTo>
                  <a:pt x="205282" y="97537"/>
                </a:lnTo>
                <a:lnTo>
                  <a:pt x="205509" y="102981"/>
                </a:lnTo>
                <a:lnTo>
                  <a:pt x="205509" y="2092965"/>
                </a:lnTo>
                <a:lnTo>
                  <a:pt x="2195719" y="2092965"/>
                </a:lnTo>
                <a:lnTo>
                  <a:pt x="2201163" y="2093192"/>
                </a:lnTo>
                <a:lnTo>
                  <a:pt x="2206380" y="2093419"/>
                </a:lnTo>
                <a:lnTo>
                  <a:pt x="2211597" y="2094326"/>
                </a:lnTo>
                <a:lnTo>
                  <a:pt x="2216587" y="2095233"/>
                </a:lnTo>
                <a:lnTo>
                  <a:pt x="2221578" y="2096367"/>
                </a:lnTo>
                <a:lnTo>
                  <a:pt x="2226568" y="2097501"/>
                </a:lnTo>
                <a:lnTo>
                  <a:pt x="2231105" y="2099316"/>
                </a:lnTo>
                <a:lnTo>
                  <a:pt x="2235868" y="2101131"/>
                </a:lnTo>
                <a:lnTo>
                  <a:pt x="2240405" y="2103172"/>
                </a:lnTo>
                <a:lnTo>
                  <a:pt x="2244714" y="2105667"/>
                </a:lnTo>
                <a:lnTo>
                  <a:pt x="2249251" y="2107936"/>
                </a:lnTo>
                <a:lnTo>
                  <a:pt x="2253334" y="2110658"/>
                </a:lnTo>
                <a:lnTo>
                  <a:pt x="2257417" y="2113606"/>
                </a:lnTo>
                <a:lnTo>
                  <a:pt x="2261273" y="2116328"/>
                </a:lnTo>
                <a:lnTo>
                  <a:pt x="2264902" y="2119731"/>
                </a:lnTo>
                <a:lnTo>
                  <a:pt x="2268532" y="2123133"/>
                </a:lnTo>
                <a:lnTo>
                  <a:pt x="2271934" y="2126763"/>
                </a:lnTo>
                <a:lnTo>
                  <a:pt x="2275337" y="2130619"/>
                </a:lnTo>
                <a:lnTo>
                  <a:pt x="2278285" y="2134475"/>
                </a:lnTo>
                <a:lnTo>
                  <a:pt x="2281234" y="2138331"/>
                </a:lnTo>
                <a:lnTo>
                  <a:pt x="2283729" y="2142414"/>
                </a:lnTo>
                <a:lnTo>
                  <a:pt x="2286224" y="2146724"/>
                </a:lnTo>
                <a:lnTo>
                  <a:pt x="2288720" y="2151260"/>
                </a:lnTo>
                <a:lnTo>
                  <a:pt x="2290761" y="2155797"/>
                </a:lnTo>
                <a:lnTo>
                  <a:pt x="2292576" y="2160560"/>
                </a:lnTo>
                <a:lnTo>
                  <a:pt x="2294164" y="2165324"/>
                </a:lnTo>
                <a:lnTo>
                  <a:pt x="2295298" y="2170087"/>
                </a:lnTo>
                <a:lnTo>
                  <a:pt x="2296659" y="2175304"/>
                </a:lnTo>
                <a:lnTo>
                  <a:pt x="2297339" y="2180068"/>
                </a:lnTo>
                <a:lnTo>
                  <a:pt x="2298246" y="2185285"/>
                </a:lnTo>
                <a:lnTo>
                  <a:pt x="2298473" y="2190729"/>
                </a:lnTo>
                <a:lnTo>
                  <a:pt x="2298700" y="2195946"/>
                </a:lnTo>
                <a:lnTo>
                  <a:pt x="2298473" y="2201163"/>
                </a:lnTo>
                <a:lnTo>
                  <a:pt x="2298246" y="2206380"/>
                </a:lnTo>
                <a:lnTo>
                  <a:pt x="2297339" y="2211597"/>
                </a:lnTo>
                <a:lnTo>
                  <a:pt x="2296659" y="2216361"/>
                </a:lnTo>
                <a:lnTo>
                  <a:pt x="2295298" y="2221578"/>
                </a:lnTo>
                <a:lnTo>
                  <a:pt x="2294164" y="2226568"/>
                </a:lnTo>
                <a:lnTo>
                  <a:pt x="2292576" y="2231105"/>
                </a:lnTo>
                <a:lnTo>
                  <a:pt x="2290761" y="2235868"/>
                </a:lnTo>
                <a:lnTo>
                  <a:pt x="2288720" y="2240405"/>
                </a:lnTo>
                <a:lnTo>
                  <a:pt x="2286224" y="2244941"/>
                </a:lnTo>
                <a:lnTo>
                  <a:pt x="2283729" y="2249251"/>
                </a:lnTo>
                <a:lnTo>
                  <a:pt x="2281234" y="2253334"/>
                </a:lnTo>
                <a:lnTo>
                  <a:pt x="2278285" y="2257417"/>
                </a:lnTo>
                <a:lnTo>
                  <a:pt x="2275337" y="2261273"/>
                </a:lnTo>
                <a:lnTo>
                  <a:pt x="2271934" y="2264902"/>
                </a:lnTo>
                <a:lnTo>
                  <a:pt x="2268532" y="2268532"/>
                </a:lnTo>
                <a:lnTo>
                  <a:pt x="2264902" y="2271934"/>
                </a:lnTo>
                <a:lnTo>
                  <a:pt x="2261273" y="2275337"/>
                </a:lnTo>
                <a:lnTo>
                  <a:pt x="2257417" y="2278059"/>
                </a:lnTo>
                <a:lnTo>
                  <a:pt x="2253334" y="2281234"/>
                </a:lnTo>
                <a:lnTo>
                  <a:pt x="2249251" y="2283729"/>
                </a:lnTo>
                <a:lnTo>
                  <a:pt x="2244714" y="2286451"/>
                </a:lnTo>
                <a:lnTo>
                  <a:pt x="2240405" y="2288493"/>
                </a:lnTo>
                <a:lnTo>
                  <a:pt x="2235868" y="2290534"/>
                </a:lnTo>
                <a:lnTo>
                  <a:pt x="2231105" y="2292349"/>
                </a:lnTo>
                <a:lnTo>
                  <a:pt x="2226568" y="2294164"/>
                </a:lnTo>
                <a:lnTo>
                  <a:pt x="2221578" y="2295298"/>
                </a:lnTo>
                <a:lnTo>
                  <a:pt x="2216587" y="2296659"/>
                </a:lnTo>
                <a:lnTo>
                  <a:pt x="2211597" y="2297566"/>
                </a:lnTo>
                <a:lnTo>
                  <a:pt x="2206380" y="2298246"/>
                </a:lnTo>
                <a:lnTo>
                  <a:pt x="2201163" y="2298473"/>
                </a:lnTo>
                <a:lnTo>
                  <a:pt x="2195719" y="2298700"/>
                </a:lnTo>
                <a:lnTo>
                  <a:pt x="102528" y="2298700"/>
                </a:lnTo>
                <a:lnTo>
                  <a:pt x="97310" y="2298473"/>
                </a:lnTo>
                <a:lnTo>
                  <a:pt x="92093" y="2298246"/>
                </a:lnTo>
                <a:lnTo>
                  <a:pt x="86876" y="2297566"/>
                </a:lnTo>
                <a:lnTo>
                  <a:pt x="81886" y="2296659"/>
                </a:lnTo>
                <a:lnTo>
                  <a:pt x="77122" y="2295298"/>
                </a:lnTo>
                <a:lnTo>
                  <a:pt x="72132" y="2294164"/>
                </a:lnTo>
                <a:lnTo>
                  <a:pt x="67142" y="2292349"/>
                </a:lnTo>
                <a:lnTo>
                  <a:pt x="62605" y="2290534"/>
                </a:lnTo>
                <a:lnTo>
                  <a:pt x="57842" y="2288493"/>
                </a:lnTo>
                <a:lnTo>
                  <a:pt x="53532" y="2286451"/>
                </a:lnTo>
                <a:lnTo>
                  <a:pt x="49449" y="2283729"/>
                </a:lnTo>
                <a:lnTo>
                  <a:pt x="45139" y="2281234"/>
                </a:lnTo>
                <a:lnTo>
                  <a:pt x="41283" y="2278059"/>
                </a:lnTo>
                <a:lnTo>
                  <a:pt x="37200" y="2275337"/>
                </a:lnTo>
                <a:lnTo>
                  <a:pt x="33344" y="2271934"/>
                </a:lnTo>
                <a:lnTo>
                  <a:pt x="29715" y="2268532"/>
                </a:lnTo>
                <a:lnTo>
                  <a:pt x="26539" y="2264902"/>
                </a:lnTo>
                <a:lnTo>
                  <a:pt x="23364" y="2261273"/>
                </a:lnTo>
                <a:lnTo>
                  <a:pt x="20188" y="2257417"/>
                </a:lnTo>
                <a:lnTo>
                  <a:pt x="17466" y="2253334"/>
                </a:lnTo>
                <a:lnTo>
                  <a:pt x="14517" y="2249251"/>
                </a:lnTo>
                <a:lnTo>
                  <a:pt x="12249" y="2244941"/>
                </a:lnTo>
                <a:lnTo>
                  <a:pt x="9981" y="2240405"/>
                </a:lnTo>
                <a:lnTo>
                  <a:pt x="7939" y="2235868"/>
                </a:lnTo>
                <a:lnTo>
                  <a:pt x="6125" y="2231105"/>
                </a:lnTo>
                <a:lnTo>
                  <a:pt x="4537" y="2226568"/>
                </a:lnTo>
                <a:lnTo>
                  <a:pt x="2949" y="2221578"/>
                </a:lnTo>
                <a:lnTo>
                  <a:pt x="2042" y="2216361"/>
                </a:lnTo>
                <a:lnTo>
                  <a:pt x="907" y="2211597"/>
                </a:lnTo>
                <a:lnTo>
                  <a:pt x="454" y="2206380"/>
                </a:lnTo>
                <a:lnTo>
                  <a:pt x="0" y="2201163"/>
                </a:lnTo>
                <a:lnTo>
                  <a:pt x="0" y="2195946"/>
                </a:lnTo>
                <a:lnTo>
                  <a:pt x="0" y="102981"/>
                </a:lnTo>
                <a:lnTo>
                  <a:pt x="0" y="97537"/>
                </a:lnTo>
                <a:lnTo>
                  <a:pt x="454" y="92320"/>
                </a:lnTo>
                <a:lnTo>
                  <a:pt x="907" y="87330"/>
                </a:lnTo>
                <a:lnTo>
                  <a:pt x="2042" y="82340"/>
                </a:lnTo>
                <a:lnTo>
                  <a:pt x="2949" y="77122"/>
                </a:lnTo>
                <a:lnTo>
                  <a:pt x="4537" y="72359"/>
                </a:lnTo>
                <a:lnTo>
                  <a:pt x="6125" y="67596"/>
                </a:lnTo>
                <a:lnTo>
                  <a:pt x="7939" y="63059"/>
                </a:lnTo>
                <a:lnTo>
                  <a:pt x="9981" y="58296"/>
                </a:lnTo>
                <a:lnTo>
                  <a:pt x="12249" y="53986"/>
                </a:lnTo>
                <a:lnTo>
                  <a:pt x="14517" y="49676"/>
                </a:lnTo>
                <a:lnTo>
                  <a:pt x="17466" y="45593"/>
                </a:lnTo>
                <a:lnTo>
                  <a:pt x="20188" y="41510"/>
                </a:lnTo>
                <a:lnTo>
                  <a:pt x="23364" y="37427"/>
                </a:lnTo>
                <a:lnTo>
                  <a:pt x="26539" y="33798"/>
                </a:lnTo>
                <a:lnTo>
                  <a:pt x="29715" y="30169"/>
                </a:lnTo>
                <a:lnTo>
                  <a:pt x="33344" y="26993"/>
                </a:lnTo>
                <a:lnTo>
                  <a:pt x="37200" y="23590"/>
                </a:lnTo>
                <a:lnTo>
                  <a:pt x="41283" y="20642"/>
                </a:lnTo>
                <a:lnTo>
                  <a:pt x="45139" y="17693"/>
                </a:lnTo>
                <a:lnTo>
                  <a:pt x="49449" y="14971"/>
                </a:lnTo>
                <a:lnTo>
                  <a:pt x="53532" y="12476"/>
                </a:lnTo>
                <a:lnTo>
                  <a:pt x="57842" y="10434"/>
                </a:lnTo>
                <a:lnTo>
                  <a:pt x="62605" y="8393"/>
                </a:lnTo>
                <a:lnTo>
                  <a:pt x="67142" y="6578"/>
                </a:lnTo>
                <a:lnTo>
                  <a:pt x="72132" y="4764"/>
                </a:lnTo>
                <a:lnTo>
                  <a:pt x="77122" y="3403"/>
                </a:lnTo>
                <a:lnTo>
                  <a:pt x="81886" y="2268"/>
                </a:lnTo>
                <a:lnTo>
                  <a:pt x="86876" y="1361"/>
                </a:lnTo>
                <a:lnTo>
                  <a:pt x="92093" y="681"/>
                </a:lnTo>
                <a:lnTo>
                  <a:pt x="97310" y="454"/>
                </a:lnTo>
                <a:lnTo>
                  <a:pt x="1025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482E2C"/>
              </a:solidFill>
              <a:cs typeface="+mn-ea"/>
              <a:sym typeface="+mn-lt"/>
            </a:endParaRPr>
          </a:p>
        </p:txBody>
      </p:sp>
      <p:sp>
        <p:nvSpPr>
          <p:cNvPr id="24" name="文本框 15"/>
          <p:cNvSpPr txBox="1"/>
          <p:nvPr/>
        </p:nvSpPr>
        <p:spPr>
          <a:xfrm>
            <a:off x="95306" y="278650"/>
            <a:ext cx="2261711" cy="3454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改进方向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58829" y="1084982"/>
            <a:ext cx="2011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多种气象灾害探测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58829" y="3234333"/>
            <a:ext cx="178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智能化灾害预防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06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  <p:sp>
        <p:nvSpPr>
          <p:cNvPr id="2" name="文本框 11"/>
          <p:cNvSpPr txBox="1"/>
          <p:nvPr>
            <p:custDataLst>
              <p:tags r:id="rId1"/>
            </p:custDataLst>
          </p:nvPr>
        </p:nvSpPr>
        <p:spPr>
          <a:xfrm>
            <a:off x="2297430" y="1742440"/>
            <a:ext cx="4548505" cy="11760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谢谢大家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dhNWZjOWY4ODNmMTEzMDEwMzZjYTRmZjlhOTBlN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3881</TotalTime>
  <Words>1140</Words>
  <Application>Microsoft Office PowerPoint</Application>
  <PresentationFormat>全屏显示(16:9)</PresentationFormat>
  <Paragraphs>95</Paragraphs>
  <Slides>18</Slides>
  <Notes>18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Calibri</vt:lpstr>
      <vt:lpstr>Arial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275359812@qq.com</cp:lastModifiedBy>
  <cp:revision>129</cp:revision>
  <dcterms:created xsi:type="dcterms:W3CDTF">2016-05-20T12:59:00Z</dcterms:created>
  <dcterms:modified xsi:type="dcterms:W3CDTF">2023-08-26T17:23:37Z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2052-12.1.0.15336</vt:lpwstr>
  </property>
  <property fmtid="{D5CDD505-2E9C-101B-9397-08002B2CF9AE}" pid="3" name="ICV">
    <vt:lpwstr>3767E08F69374698BFC69799C35B630F_11</vt:lpwstr>
  </property>
</Properties>
</file>